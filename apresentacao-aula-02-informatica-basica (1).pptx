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6" r:id="rId9"/>
    <p:sldId id="268" r:id="rId10"/>
    <p:sldId id="269" r:id="rId11"/>
    <p:sldId id="267" r:id="rId12"/>
    <p:sldId id="270" r:id="rId13"/>
    <p:sldId id="271" r:id="rId14"/>
    <p:sldId id="272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60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Professor: Acolher a turma lembrando que esta aula não é um teste de conhecimento prévio, mas sim um nivelamento seguro para que todos tenham confiança no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Pergunta disparadora para a turma: 'Qual desses dispositivos você mais utiliza no seu dia a dia e para qual tarefa?'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Notas: Relacionar com o ciclo de ensaios do curso de Polímeros para mostrar o sentido prático da informática.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Acompanhar os estudantes que têm mais dificuldade com acentuação e atalhos, promovendo apoio entre duplas.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Acompanhar os estudantes que têm mais dificuldade com acentuação e atalhos, promovendo apoio entre duplas.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51752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Prática guiada de 15 minutos: orientar todos a criarem exatamente esta estrutura no computador do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31993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9346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4926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92679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64565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1508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Ressaltar a importância de nunca sobrescrever uma versão sem ter certeza e a relevância de saber para onde o arquivo está sendo salvo.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8958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Prática guiada de 12 minutos: cada aluno comporá o e-mail anexando o arquivo produzido para envio à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Encerramento da aula: registrar as dúvidas mais frequentes para retomar na abertura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621792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rPr dirty="0"/>
              <a:t>INF-046 | FATEC MAUÁ — POLÍMEROS</a:t>
            </a:r>
          </a:p>
          <a:p>
            <a:pPr>
              <a:spcAft>
                <a:spcPts val="14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rPr sz="4000" dirty="0"/>
              <a:t>Aula 02 — </a:t>
            </a:r>
            <a:r>
              <a:rPr sz="4000" dirty="0" err="1"/>
              <a:t>Informática</a:t>
            </a:r>
            <a:r>
              <a:rPr sz="4000" dirty="0"/>
              <a:t> </a:t>
            </a:r>
            <a:r>
              <a:rPr sz="4000" dirty="0" err="1"/>
              <a:t>Básica</a:t>
            </a:r>
            <a:r>
              <a:rPr sz="4000" dirty="0"/>
              <a:t>:</a:t>
            </a:r>
            <a:br>
              <a:rPr sz="4000" dirty="0"/>
            </a:br>
            <a:r>
              <a:rPr sz="4000" dirty="0" err="1"/>
              <a:t>Autonomia</a:t>
            </a:r>
            <a:r>
              <a:rPr sz="4000" dirty="0"/>
              <a:t> para </a:t>
            </a:r>
            <a:r>
              <a:rPr sz="4000" dirty="0" err="1"/>
              <a:t>Começar</a:t>
            </a:r>
            <a:endParaRPr sz="4000" dirty="0"/>
          </a:p>
          <a:p>
            <a:pPr>
              <a:spcAft>
                <a:spcPts val="1800"/>
              </a:spcAft>
              <a:defRPr sz="1400" i="1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“Antes de </a:t>
            </a:r>
            <a:r>
              <a:rPr sz="1600" dirty="0" err="1"/>
              <a:t>avançar</a:t>
            </a:r>
            <a:r>
              <a:rPr sz="1600" dirty="0"/>
              <a:t> para </a:t>
            </a:r>
            <a:r>
              <a:rPr sz="1600" dirty="0" err="1"/>
              <a:t>planilhas</a:t>
            </a:r>
            <a:r>
              <a:rPr sz="1600" dirty="0"/>
              <a:t> e </a:t>
            </a:r>
            <a:r>
              <a:rPr sz="1600" dirty="0" err="1"/>
              <a:t>relatórios</a:t>
            </a:r>
            <a:r>
              <a:rPr sz="1600" dirty="0"/>
              <a:t> </a:t>
            </a:r>
            <a:r>
              <a:rPr sz="1600" dirty="0" err="1"/>
              <a:t>complexos</a:t>
            </a:r>
            <a:r>
              <a:rPr sz="1600" dirty="0"/>
              <a:t>, </a:t>
            </a:r>
            <a:r>
              <a:rPr sz="1600" dirty="0" err="1"/>
              <a:t>vamos</a:t>
            </a:r>
            <a:r>
              <a:rPr sz="1600" dirty="0"/>
              <a:t> </a:t>
            </a:r>
            <a:r>
              <a:rPr sz="1600" dirty="0" err="1"/>
              <a:t>construir</a:t>
            </a:r>
            <a:r>
              <a:rPr sz="1600" dirty="0"/>
              <a:t> a base </a:t>
            </a:r>
            <a:r>
              <a:rPr sz="1600" dirty="0" err="1"/>
              <a:t>sólida</a:t>
            </a:r>
            <a:r>
              <a:rPr sz="1600" dirty="0"/>
              <a:t> de </a:t>
            </a:r>
            <a:r>
              <a:rPr sz="1600" dirty="0" err="1"/>
              <a:t>autonomia</a:t>
            </a:r>
            <a:r>
              <a:rPr sz="1600" dirty="0"/>
              <a:t> digital que </a:t>
            </a:r>
            <a:r>
              <a:rPr sz="1600" dirty="0" err="1"/>
              <a:t>sustenta</a:t>
            </a:r>
            <a:r>
              <a:rPr sz="1600" dirty="0"/>
              <a:t> </a:t>
            </a:r>
            <a:r>
              <a:rPr sz="1600" dirty="0" err="1"/>
              <a:t>todo</a:t>
            </a:r>
            <a:r>
              <a:rPr sz="1600" dirty="0"/>
              <a:t> o </a:t>
            </a:r>
            <a:r>
              <a:rPr sz="1600" dirty="0" err="1"/>
              <a:t>curso</a:t>
            </a:r>
            <a:r>
              <a:rPr sz="1600" dirty="0"/>
              <a:t>.”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Calibri"/>
              </a:defRPr>
            </a:pPr>
            <a:r>
              <a:rPr dirty="0"/>
              <a:t>🎯  </a:t>
            </a:r>
            <a:r>
              <a:rPr dirty="0" err="1"/>
              <a:t>Dominar</a:t>
            </a:r>
            <a:r>
              <a:rPr dirty="0"/>
              <a:t> o </a:t>
            </a:r>
            <a:r>
              <a:rPr dirty="0" err="1"/>
              <a:t>teclado</a:t>
            </a:r>
            <a:r>
              <a:rPr dirty="0"/>
              <a:t> e mouse com </a:t>
            </a:r>
            <a:r>
              <a:rPr dirty="0" err="1"/>
              <a:t>precisão</a:t>
            </a:r>
            <a:r>
              <a:rPr dirty="0"/>
              <a:t> </a:t>
            </a:r>
            <a:r>
              <a:rPr dirty="0" err="1"/>
              <a:t>técnica</a:t>
            </a:r>
            <a:br>
              <a:rPr dirty="0"/>
            </a:br>
            <a:r>
              <a:rPr dirty="0"/>
              <a:t>📁  </a:t>
            </a:r>
            <a:r>
              <a:rPr dirty="0" err="1"/>
              <a:t>Estruturar</a:t>
            </a:r>
            <a:r>
              <a:rPr dirty="0"/>
              <a:t> pastas e </a:t>
            </a:r>
            <a:r>
              <a:rPr dirty="0" err="1"/>
              <a:t>versionar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rastreáveis</a:t>
            </a:r>
            <a:br>
              <a:rPr dirty="0"/>
            </a:br>
            <a:r>
              <a:rPr dirty="0"/>
              <a:t>✉️ 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profissional</a:t>
            </a:r>
            <a:r>
              <a:rPr dirty="0"/>
              <a:t> </a:t>
            </a:r>
            <a:r>
              <a:rPr dirty="0" err="1"/>
              <a:t>segura</a:t>
            </a:r>
            <a:r>
              <a:rPr dirty="0"/>
              <a:t> e </a:t>
            </a:r>
            <a:r>
              <a:rPr dirty="0" err="1"/>
              <a:t>envio</a:t>
            </a:r>
            <a:r>
              <a:rPr dirty="0"/>
              <a:t> de </a:t>
            </a:r>
            <a:r>
              <a:rPr dirty="0" err="1"/>
              <a:t>entregas</a:t>
            </a:r>
            <a:endParaRPr dirty="0"/>
          </a:p>
        </p:txBody>
      </p:sp>
      <p:pic>
        <p:nvPicPr>
          <p:cNvPr id="3" name="Picture 2" descr="lab_computadores_polime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4297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MÓDULO 01 • PANORAMA DOS DISPOSITIVOS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Computadores Estão em Todo Lugar: 4 Dispositivos Essenciais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Cada equipamento atende a uma demanda específica de mobilidade, processamento e tela.</a:t>
            </a:r>
          </a:p>
        </p:txBody>
      </p:sp>
      <p:pic>
        <p:nvPicPr>
          <p:cNvPr id="3" name="Picture 2" descr="dispositivos_tipos_hard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5720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77840" y="1645920"/>
            <a:ext cx="585216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Computador</a:t>
            </a:r>
            <a:r>
              <a:rPr dirty="0"/>
              <a:t> de Mesa (Desktop)</a:t>
            </a:r>
          </a:p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rPr sz="1600" dirty="0" err="1"/>
              <a:t>Posto</a:t>
            </a:r>
            <a:r>
              <a:rPr sz="1600" dirty="0"/>
              <a:t> </a:t>
            </a:r>
            <a:r>
              <a:rPr sz="1600" dirty="0" err="1"/>
              <a:t>fixo</a:t>
            </a:r>
            <a:r>
              <a:rPr sz="1600" dirty="0"/>
              <a:t> de </a:t>
            </a:r>
            <a:r>
              <a:rPr sz="1600" dirty="0" err="1"/>
              <a:t>trabalho</a:t>
            </a:r>
            <a:r>
              <a:rPr sz="1600" dirty="0"/>
              <a:t> no </a:t>
            </a:r>
            <a:r>
              <a:rPr sz="1600" dirty="0" err="1"/>
              <a:t>laboratório</a:t>
            </a:r>
            <a:r>
              <a:rPr sz="1600" dirty="0"/>
              <a:t>, </a:t>
            </a:r>
            <a:r>
              <a:rPr sz="1600" dirty="0" err="1"/>
              <a:t>telas</a:t>
            </a:r>
            <a:r>
              <a:rPr sz="1600" dirty="0"/>
              <a:t> </a:t>
            </a:r>
            <a:r>
              <a:rPr sz="1600" dirty="0" err="1"/>
              <a:t>maiores</a:t>
            </a:r>
            <a:r>
              <a:rPr sz="1600" dirty="0"/>
              <a:t>, </a:t>
            </a:r>
            <a:r>
              <a:rPr sz="1600" dirty="0" err="1"/>
              <a:t>estabilidade</a:t>
            </a:r>
            <a:r>
              <a:rPr sz="1600" dirty="0"/>
              <a:t> para </a:t>
            </a:r>
            <a:r>
              <a:rPr sz="1600" dirty="0" err="1"/>
              <a:t>ensaios</a:t>
            </a:r>
            <a:r>
              <a:rPr sz="1600" dirty="0"/>
              <a:t> </a:t>
            </a:r>
            <a:r>
              <a:rPr sz="1600" dirty="0" err="1"/>
              <a:t>longos</a:t>
            </a:r>
            <a:r>
              <a:rPr sz="1600" dirty="0"/>
              <a:t> e </a:t>
            </a:r>
            <a:r>
              <a:rPr sz="1600" dirty="0" err="1"/>
              <a:t>processamento</a:t>
            </a:r>
            <a:r>
              <a:rPr sz="1600" dirty="0"/>
              <a:t> </a:t>
            </a:r>
            <a:r>
              <a:rPr sz="1600" dirty="0" err="1"/>
              <a:t>contínuo</a:t>
            </a:r>
            <a:r>
              <a:rPr sz="1600"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2788920"/>
            <a:ext cx="585216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rPr dirty="0"/>
              <a:t>2. Notebook</a:t>
            </a:r>
          </a:p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rPr sz="1600" dirty="0" err="1"/>
              <a:t>Mobilidade</a:t>
            </a:r>
            <a:r>
              <a:rPr sz="1600" dirty="0"/>
              <a:t> e </a:t>
            </a:r>
            <a:r>
              <a:rPr sz="1600" dirty="0" err="1"/>
              <a:t>autonomia</a:t>
            </a:r>
            <a:r>
              <a:rPr sz="1600" dirty="0"/>
              <a:t>: </a:t>
            </a:r>
            <a:r>
              <a:rPr sz="1600" dirty="0" err="1"/>
              <a:t>permite</a:t>
            </a:r>
            <a:r>
              <a:rPr sz="1600" dirty="0"/>
              <a:t> </a:t>
            </a:r>
            <a:r>
              <a:rPr sz="1600" dirty="0" err="1"/>
              <a:t>transitar</a:t>
            </a:r>
            <a:r>
              <a:rPr sz="1600" dirty="0"/>
              <a:t> entre </a:t>
            </a:r>
            <a:r>
              <a:rPr sz="1600" dirty="0" err="1"/>
              <a:t>bancadas</a:t>
            </a:r>
            <a:r>
              <a:rPr sz="1600" dirty="0"/>
              <a:t> de </a:t>
            </a:r>
            <a:r>
              <a:rPr sz="1600" dirty="0" err="1"/>
              <a:t>ensaio</a:t>
            </a:r>
            <a:r>
              <a:rPr sz="1600" dirty="0"/>
              <a:t>, </a:t>
            </a:r>
            <a:r>
              <a:rPr sz="1600" dirty="0" err="1"/>
              <a:t>salas</a:t>
            </a:r>
            <a:r>
              <a:rPr sz="1600" dirty="0"/>
              <a:t> de aula e </a:t>
            </a:r>
            <a:r>
              <a:rPr sz="1600" dirty="0" err="1"/>
              <a:t>relatórios</a:t>
            </a:r>
            <a:r>
              <a:rPr sz="1600" dirty="0"/>
              <a:t> de campo.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3931920"/>
            <a:ext cx="585216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3. Tablet</a:t>
            </a:r>
          </a:p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rPr sz="1600"/>
              <a:t>Interação tátil ágil: ideal para coleta de dados em chão de fábrica, inspeção visual e formulários digitais rápidos.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074920"/>
            <a:ext cx="585216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4. Smartphone</a:t>
            </a:r>
          </a:p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rPr sz="1600"/>
              <a:t>Acesso imediato e comunicação: consulta rápida de especificações técnicas, registros fotográficos e alertas.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MÓDULO 02 • LÓGICA DE FUNCIONAMENTO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 Ciclo das 4 Ações: Do Dado Bruto à Decisão em Polímeros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Como a informação flui digitalmente desde a coleta no laboratório até o relatório final.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bIns="18288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rPr sz="2400" dirty="0"/>
              <a:t>1. </a:t>
            </a:r>
            <a:endParaRPr lang="pt-BR" sz="2400" dirty="0"/>
          </a:p>
          <a:p>
            <a:pPr algn="ctr">
              <a:spcAft>
                <a:spcPts val="6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rPr sz="2400" dirty="0" err="1"/>
              <a:t>Receber</a:t>
            </a:r>
            <a:endParaRPr sz="2400" dirty="0"/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sz="1100" dirty="0"/>
              <a:t>Entrada de dados </a:t>
            </a:r>
            <a:r>
              <a:rPr sz="1100" dirty="0" err="1"/>
              <a:t>brutos</a:t>
            </a:r>
            <a:endParaRPr sz="1100" dirty="0"/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400" dirty="0" err="1"/>
              <a:t>Exemplo</a:t>
            </a:r>
            <a:r>
              <a:rPr sz="1400" dirty="0"/>
              <a:t> </a:t>
            </a:r>
            <a:r>
              <a:rPr sz="1400" dirty="0" err="1"/>
              <a:t>aplicado</a:t>
            </a:r>
            <a:r>
              <a:rPr sz="1400" dirty="0"/>
              <a:t>:</a:t>
            </a:r>
            <a:br>
              <a:rPr sz="1400" dirty="0"/>
            </a:br>
            <a:r>
              <a:rPr sz="1400" dirty="0" err="1"/>
              <a:t>Digitação</a:t>
            </a:r>
            <a:r>
              <a:rPr sz="1400" dirty="0"/>
              <a:t> manual de </a:t>
            </a:r>
            <a:r>
              <a:rPr sz="1400" dirty="0" err="1"/>
              <a:t>medidas</a:t>
            </a:r>
            <a:r>
              <a:rPr sz="1400" dirty="0"/>
              <a:t> de </a:t>
            </a:r>
            <a:r>
              <a:rPr sz="1400" dirty="0" err="1"/>
              <a:t>corpos</a:t>
            </a:r>
            <a:r>
              <a:rPr sz="1400" dirty="0"/>
              <a:t> de </a:t>
            </a:r>
            <a:r>
              <a:rPr sz="1400" dirty="0" err="1"/>
              <a:t>prova</a:t>
            </a:r>
            <a:r>
              <a:rPr sz="1400" dirty="0"/>
              <a:t> </a:t>
            </a:r>
            <a:r>
              <a:rPr sz="1400" dirty="0" err="1"/>
              <a:t>ou</a:t>
            </a:r>
            <a:r>
              <a:rPr sz="1400" dirty="0"/>
              <a:t> </a:t>
            </a:r>
            <a:r>
              <a:rPr sz="1400" dirty="0" err="1"/>
              <a:t>leitura</a:t>
            </a:r>
            <a:r>
              <a:rPr sz="1400" dirty="0"/>
              <a:t> de </a:t>
            </a:r>
            <a:r>
              <a:rPr sz="1400" dirty="0" err="1"/>
              <a:t>sensores</a:t>
            </a:r>
            <a:r>
              <a:rPr sz="1400" dirty="0"/>
              <a:t> de </a:t>
            </a:r>
            <a:r>
              <a:rPr sz="1400" dirty="0" err="1"/>
              <a:t>ensaio</a:t>
            </a:r>
            <a:r>
              <a:rPr sz="1400" dirty="0"/>
              <a:t> de </a:t>
            </a:r>
            <a:r>
              <a:rPr sz="1400" dirty="0" err="1"/>
              <a:t>tração</a:t>
            </a:r>
            <a:r>
              <a:rPr sz="1400"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bIns="18288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rPr sz="2400" dirty="0"/>
              <a:t>2. </a:t>
            </a:r>
            <a:endParaRPr lang="pt-BR" sz="2400" dirty="0"/>
          </a:p>
          <a:p>
            <a:pPr algn="ctr">
              <a:spcAft>
                <a:spcPts val="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rPr sz="2400" dirty="0" err="1"/>
              <a:t>Processar</a:t>
            </a:r>
            <a:endParaRPr sz="2400" dirty="0"/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sz="1100" dirty="0" err="1"/>
              <a:t>Cálculo</a:t>
            </a:r>
            <a:r>
              <a:rPr sz="1100" dirty="0"/>
              <a:t> e </a:t>
            </a:r>
            <a:r>
              <a:rPr sz="1100" dirty="0" err="1"/>
              <a:t>transformação</a:t>
            </a:r>
            <a:endParaRPr sz="1100" dirty="0"/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400" dirty="0" err="1"/>
              <a:t>Exemplo</a:t>
            </a:r>
            <a:r>
              <a:rPr sz="1400" dirty="0"/>
              <a:t> </a:t>
            </a:r>
            <a:r>
              <a:rPr sz="1400" dirty="0" err="1"/>
              <a:t>aplicado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O </a:t>
            </a:r>
            <a:r>
              <a:rPr sz="1400" dirty="0" err="1"/>
              <a:t>processador</a:t>
            </a:r>
            <a:r>
              <a:rPr sz="1400" dirty="0"/>
              <a:t> </a:t>
            </a:r>
            <a:r>
              <a:rPr sz="1400" dirty="0" err="1"/>
              <a:t>calcula</a:t>
            </a:r>
            <a:r>
              <a:rPr sz="1400" dirty="0"/>
              <a:t> </a:t>
            </a:r>
            <a:r>
              <a:rPr sz="1400" dirty="0" err="1"/>
              <a:t>médias</a:t>
            </a:r>
            <a:r>
              <a:rPr sz="1400" dirty="0"/>
              <a:t>, </a:t>
            </a:r>
            <a:r>
              <a:rPr sz="1400" dirty="0" err="1"/>
              <a:t>desvios</a:t>
            </a:r>
            <a:r>
              <a:rPr sz="1400" dirty="0"/>
              <a:t>, </a:t>
            </a:r>
            <a:r>
              <a:rPr sz="1400" dirty="0" err="1"/>
              <a:t>tensão</a:t>
            </a:r>
            <a:r>
              <a:rPr sz="1400" dirty="0"/>
              <a:t> de </a:t>
            </a:r>
            <a:r>
              <a:rPr sz="1400" dirty="0" err="1"/>
              <a:t>ruptura</a:t>
            </a:r>
            <a:r>
              <a:rPr sz="1400" dirty="0"/>
              <a:t> e </a:t>
            </a:r>
            <a:r>
              <a:rPr sz="1400" dirty="0" err="1"/>
              <a:t>equações</a:t>
            </a:r>
            <a:r>
              <a:rPr sz="1400" dirty="0"/>
              <a:t> </a:t>
            </a:r>
            <a:r>
              <a:rPr sz="1400" dirty="0" err="1"/>
              <a:t>reológicas</a:t>
            </a:r>
            <a:r>
              <a:rPr sz="1400"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bIns="18288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rPr sz="2400" dirty="0"/>
              <a:t>3. </a:t>
            </a:r>
            <a:r>
              <a:rPr sz="2400" dirty="0" err="1"/>
              <a:t>Armazenar</a:t>
            </a:r>
            <a:endParaRPr sz="2400" dirty="0"/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sz="1100" dirty="0" err="1"/>
              <a:t>Salvamento</a:t>
            </a:r>
            <a:r>
              <a:rPr sz="1100" dirty="0"/>
              <a:t> </a:t>
            </a:r>
            <a:r>
              <a:rPr sz="1100" dirty="0" err="1"/>
              <a:t>seguro</a:t>
            </a:r>
            <a:endParaRPr sz="1100" dirty="0"/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400" dirty="0" err="1"/>
              <a:t>Exemplo</a:t>
            </a:r>
            <a:r>
              <a:rPr sz="1400" dirty="0"/>
              <a:t> </a:t>
            </a:r>
            <a:r>
              <a:rPr sz="1400" dirty="0" err="1"/>
              <a:t>aplicado</a:t>
            </a:r>
            <a:r>
              <a:rPr sz="1400" dirty="0"/>
              <a:t>:</a:t>
            </a:r>
            <a:br>
              <a:rPr sz="1400" dirty="0"/>
            </a:br>
            <a:r>
              <a:rPr sz="1400" dirty="0" err="1"/>
              <a:t>Gravação</a:t>
            </a:r>
            <a:r>
              <a:rPr sz="1400" dirty="0"/>
              <a:t> do </a:t>
            </a:r>
            <a:r>
              <a:rPr sz="1400" dirty="0" err="1"/>
              <a:t>arquivo</a:t>
            </a:r>
            <a:r>
              <a:rPr sz="1400" dirty="0"/>
              <a:t> com </a:t>
            </a:r>
            <a:r>
              <a:rPr sz="1400" dirty="0" err="1"/>
              <a:t>nome</a:t>
            </a:r>
            <a:r>
              <a:rPr sz="1400" dirty="0"/>
              <a:t> </a:t>
            </a:r>
            <a:r>
              <a:rPr sz="1400" dirty="0" err="1"/>
              <a:t>padronizado</a:t>
            </a:r>
            <a:r>
              <a:rPr sz="1400" dirty="0"/>
              <a:t> e </a:t>
            </a:r>
            <a:r>
              <a:rPr sz="1400" dirty="0" err="1"/>
              <a:t>extensão</a:t>
            </a:r>
            <a:r>
              <a:rPr sz="1400" dirty="0"/>
              <a:t> </a:t>
            </a:r>
            <a:r>
              <a:rPr sz="1400" dirty="0" err="1"/>
              <a:t>correta</a:t>
            </a:r>
            <a:r>
              <a:rPr sz="1400" dirty="0"/>
              <a:t> </a:t>
            </a:r>
            <a:r>
              <a:rPr sz="1400" dirty="0" err="1"/>
              <a:t>na</a:t>
            </a:r>
            <a:r>
              <a:rPr sz="1400" dirty="0"/>
              <a:t> </a:t>
            </a:r>
            <a:r>
              <a:rPr sz="1400" dirty="0" err="1"/>
              <a:t>estrutura</a:t>
            </a:r>
            <a:r>
              <a:rPr sz="1400" dirty="0"/>
              <a:t> de pastas</a:t>
            </a:r>
            <a:r>
              <a:rPr lang="pt-BR" sz="1400" dirty="0"/>
              <a:t>, armazenamento local ou em nuvem.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bIns="18288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rPr sz="2400"/>
              <a:t>4. Apresentar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sz="1100"/>
              <a:t>Comunicação e ação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400"/>
              <a:t>Exemplo aplicado:</a:t>
            </a:r>
            <a:br>
              <a:rPr sz="1400"/>
            </a:br>
            <a:r>
              <a:rPr sz="1400"/>
              <a:t>Geração de gráficos, tabelas e envio de relatório técnico por e-mail para a equipe.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MÓDULO 03 • PRÁTICA INSTRUMENTAL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Teclado e Mouse: Mapa de Navegação e Atalhos Técnicos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Dominar o teclado economiza horas de trabalho e evita perda de dados durante a digitação.</a:t>
            </a:r>
          </a:p>
        </p:txBody>
      </p:sp>
      <p:pic>
        <p:nvPicPr>
          <p:cNvPr id="3" name="Picture 2" descr="teclado_mouse_produtiv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38912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4960" y="1645920"/>
            <a:ext cx="60350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rPr sz="1600" dirty="0"/>
              <a:t>⌨️ </a:t>
            </a:r>
            <a:r>
              <a:rPr sz="1600" dirty="0" err="1"/>
              <a:t>Teclas</a:t>
            </a:r>
            <a:r>
              <a:rPr sz="1600" dirty="0"/>
              <a:t> </a:t>
            </a:r>
            <a:r>
              <a:rPr sz="1600" dirty="0" err="1"/>
              <a:t>Estratégicas</a:t>
            </a:r>
            <a:r>
              <a:rPr sz="1600" dirty="0"/>
              <a:t> &amp; </a:t>
            </a:r>
            <a:r>
              <a:rPr sz="1600" dirty="0" err="1"/>
              <a:t>Atalhos</a:t>
            </a:r>
            <a:r>
              <a:rPr sz="1600" dirty="0"/>
              <a:t> </a:t>
            </a:r>
            <a:r>
              <a:rPr sz="1600" dirty="0" err="1"/>
              <a:t>Essenciais</a:t>
            </a:r>
            <a:r>
              <a:rPr sz="1600" dirty="0"/>
              <a:t>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rPr sz="1400" dirty="0"/>
              <a:t>• Ctrl + C (</a:t>
            </a:r>
            <a:r>
              <a:rPr sz="1400" dirty="0" err="1"/>
              <a:t>Copiar</a:t>
            </a:r>
            <a:r>
              <a:rPr sz="1400" dirty="0"/>
              <a:t>) | Ctrl + V (</a:t>
            </a:r>
            <a:r>
              <a:rPr sz="1400" dirty="0" err="1"/>
              <a:t>Colar</a:t>
            </a:r>
            <a:r>
              <a:rPr sz="1400" dirty="0"/>
              <a:t>) | Ctrl + Z (</a:t>
            </a:r>
            <a:r>
              <a:rPr sz="1400" dirty="0" err="1"/>
              <a:t>Desfazer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Shift vs Caps Lock (</a:t>
            </a:r>
            <a:r>
              <a:rPr sz="1400" dirty="0" err="1"/>
              <a:t>maiúsculas</a:t>
            </a:r>
            <a:r>
              <a:rPr sz="1400" dirty="0"/>
              <a:t> </a:t>
            </a:r>
            <a:r>
              <a:rPr sz="1400" dirty="0" err="1"/>
              <a:t>pontuais</a:t>
            </a:r>
            <a:r>
              <a:rPr sz="1400" dirty="0"/>
              <a:t> vs </a:t>
            </a:r>
            <a:r>
              <a:rPr sz="1400" dirty="0" err="1"/>
              <a:t>texto</a:t>
            </a:r>
            <a:r>
              <a:rPr sz="1400" dirty="0"/>
              <a:t> </a:t>
            </a:r>
            <a:r>
              <a:rPr sz="1400" dirty="0" err="1"/>
              <a:t>contínuo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Acentuação</a:t>
            </a:r>
            <a:r>
              <a:rPr sz="1400" dirty="0"/>
              <a:t> e </a:t>
            </a:r>
            <a:r>
              <a:rPr sz="1400" dirty="0" err="1"/>
              <a:t>caracteres</a:t>
            </a:r>
            <a:r>
              <a:rPr sz="1400" dirty="0"/>
              <a:t> </a:t>
            </a:r>
            <a:r>
              <a:rPr sz="1400" dirty="0" err="1"/>
              <a:t>especiais</a:t>
            </a:r>
            <a:r>
              <a:rPr sz="1400" dirty="0"/>
              <a:t>: </a:t>
            </a:r>
            <a:r>
              <a:rPr sz="1400" dirty="0" err="1"/>
              <a:t>graus</a:t>
            </a:r>
            <a:r>
              <a:rPr sz="1400" dirty="0"/>
              <a:t> (°C), </a:t>
            </a:r>
            <a:r>
              <a:rPr sz="1400" dirty="0" err="1"/>
              <a:t>parênteses</a:t>
            </a:r>
            <a:r>
              <a:rPr sz="1400" dirty="0"/>
              <a:t>, </a:t>
            </a:r>
            <a:r>
              <a:rPr sz="1400" dirty="0" err="1"/>
              <a:t>barras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Botão</a:t>
            </a:r>
            <a:r>
              <a:rPr sz="1400" dirty="0"/>
              <a:t> </a:t>
            </a:r>
            <a:r>
              <a:rPr sz="1400" dirty="0" err="1"/>
              <a:t>direito</a:t>
            </a:r>
            <a:r>
              <a:rPr sz="1400" dirty="0"/>
              <a:t> do mouse: menu contextual de </a:t>
            </a:r>
            <a:r>
              <a:rPr sz="1400" dirty="0" err="1"/>
              <a:t>propriedades</a:t>
            </a:r>
            <a:endParaRPr sz="1400" dirty="0"/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rPr sz="1400" dirty="0"/>
              <a:t>⏱️ </a:t>
            </a:r>
            <a:r>
              <a:rPr sz="1400" dirty="0" err="1"/>
              <a:t>Prática</a:t>
            </a:r>
            <a:r>
              <a:rPr sz="1400" dirty="0"/>
              <a:t> </a:t>
            </a:r>
            <a:r>
              <a:rPr sz="1400" dirty="0" err="1"/>
              <a:t>Guiada</a:t>
            </a:r>
            <a:r>
              <a:rPr lang="pt-BR" sz="1400" dirty="0"/>
              <a:t> 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lang="pt-BR" sz="1600" dirty="0">
                <a:solidFill>
                  <a:schemeClr val="bg2"/>
                </a:solidFill>
              </a:rPr>
              <a:t>1. Abrir o editor de texto.</a:t>
            </a:r>
            <a:br>
              <a:rPr lang="pt-BR" sz="1600" dirty="0">
                <a:solidFill>
                  <a:schemeClr val="bg2"/>
                </a:solidFill>
              </a:rPr>
            </a:br>
            <a:r>
              <a:rPr lang="pt-BR" sz="1600" dirty="0">
                <a:solidFill>
                  <a:schemeClr val="bg2"/>
                </a:solidFill>
              </a:rPr>
              <a:t>2. Digitar: “Ensaio de tração em corpos de prova de polipropileno (PP) a 23 °C — Densidade: 0,905 g/cm³”.</a:t>
            </a:r>
            <a:br>
              <a:rPr lang="pt-BR" sz="1600" dirty="0">
                <a:solidFill>
                  <a:schemeClr val="bg2"/>
                </a:solidFill>
              </a:rPr>
            </a:br>
            <a:r>
              <a:rPr lang="pt-BR" sz="1600" dirty="0">
                <a:solidFill>
                  <a:schemeClr val="bg2"/>
                </a:solidFill>
              </a:rPr>
              <a:t>3. Praticar seleção por teclado (Shift + Setas) e cópia rápida sem o mouse.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rPr dirty="0"/>
              <a:t>MÓDULO 03 • PRÁTICA INSTRUMENTAL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 err="1"/>
              <a:t>Teclado</a:t>
            </a:r>
            <a:r>
              <a:rPr dirty="0"/>
              <a:t> e Mouse: </a:t>
            </a:r>
            <a:r>
              <a:rPr dirty="0" err="1"/>
              <a:t>Mapa</a:t>
            </a:r>
            <a:r>
              <a:rPr dirty="0"/>
              <a:t> de </a:t>
            </a:r>
            <a:r>
              <a:rPr dirty="0" err="1"/>
              <a:t>Navegação</a:t>
            </a:r>
            <a:r>
              <a:rPr dirty="0"/>
              <a:t> e </a:t>
            </a:r>
            <a:r>
              <a:rPr dirty="0" err="1"/>
              <a:t>Atalhos</a:t>
            </a:r>
            <a:r>
              <a:rPr dirty="0"/>
              <a:t> </a:t>
            </a:r>
            <a:r>
              <a:rPr dirty="0" err="1"/>
              <a:t>Técnicos</a:t>
            </a: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Dominar</a:t>
            </a:r>
            <a:r>
              <a:rPr dirty="0"/>
              <a:t> o </a:t>
            </a:r>
            <a:r>
              <a:rPr dirty="0" err="1"/>
              <a:t>teclado</a:t>
            </a:r>
            <a:r>
              <a:rPr dirty="0"/>
              <a:t> </a:t>
            </a:r>
            <a:r>
              <a:rPr dirty="0" err="1"/>
              <a:t>economiza</a:t>
            </a:r>
            <a:r>
              <a:rPr dirty="0"/>
              <a:t> horas de </a:t>
            </a:r>
            <a:r>
              <a:rPr dirty="0" err="1"/>
              <a:t>trabalho</a:t>
            </a:r>
            <a:r>
              <a:rPr dirty="0"/>
              <a:t> e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perda</a:t>
            </a:r>
            <a:r>
              <a:rPr dirty="0"/>
              <a:t> de dados </a:t>
            </a:r>
            <a:r>
              <a:rPr dirty="0" err="1"/>
              <a:t>durante</a:t>
            </a:r>
            <a:r>
              <a:rPr dirty="0"/>
              <a:t> a </a:t>
            </a:r>
            <a:r>
              <a:rPr dirty="0" err="1"/>
              <a:t>digitação</a:t>
            </a:r>
            <a:r>
              <a:rPr dirty="0"/>
              <a:t>.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EB09C35-BF0F-4B78-BC9E-EA767BFB7E69}"/>
              </a:ext>
            </a:extLst>
          </p:cNvPr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A4A"/>
                </a:solidFill>
                <a:latin typeface="Arial"/>
              </a:defRPr>
            </a:pPr>
            <a:r>
              <a:rPr dirty="0"/>
              <a:t>🔬 </a:t>
            </a:r>
            <a:r>
              <a:rPr dirty="0" err="1"/>
              <a:t>Símbolos</a:t>
            </a:r>
            <a:r>
              <a:rPr dirty="0"/>
              <a:t> &amp; </a:t>
            </a:r>
            <a:r>
              <a:rPr dirty="0" err="1"/>
              <a:t>Notações</a:t>
            </a:r>
            <a:endParaRPr dirty="0"/>
          </a:p>
          <a:p>
            <a:pPr>
              <a:spcBef>
                <a:spcPts val="800"/>
              </a:spcBef>
              <a:defRPr sz="1200" b="1">
                <a:solidFill>
                  <a:srgbClr val="0098A6"/>
                </a:solidFill>
                <a:latin typeface="Arial"/>
              </a:defRPr>
            </a:pPr>
            <a:r>
              <a:rPr dirty="0"/>
              <a:t>°C (</a:t>
            </a:r>
            <a:r>
              <a:rPr dirty="0" err="1"/>
              <a:t>Graus</a:t>
            </a:r>
            <a:r>
              <a:rPr dirty="0"/>
              <a:t> Celsius)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rPr dirty="0"/>
              <a:t>👉 Tecla: Alt Gr + E  </a:t>
            </a:r>
            <a:r>
              <a:rPr dirty="0" err="1"/>
              <a:t>ou</a:t>
            </a:r>
            <a:r>
              <a:rPr dirty="0"/>
              <a:t>  Alt + 0176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rPr dirty="0" err="1"/>
              <a:t>Essencial</a:t>
            </a:r>
            <a:r>
              <a:rPr dirty="0"/>
              <a:t> para </a:t>
            </a:r>
            <a:r>
              <a:rPr dirty="0" err="1"/>
              <a:t>temperatura</a:t>
            </a:r>
            <a:r>
              <a:rPr dirty="0"/>
              <a:t> de </a:t>
            </a:r>
            <a:r>
              <a:rPr dirty="0" err="1"/>
              <a:t>transição</a:t>
            </a:r>
            <a:r>
              <a:rPr dirty="0"/>
              <a:t> </a:t>
            </a:r>
            <a:r>
              <a:rPr dirty="0" err="1"/>
              <a:t>vítrea</a:t>
            </a:r>
            <a:r>
              <a:rPr dirty="0"/>
              <a:t> (</a:t>
            </a:r>
            <a:r>
              <a:rPr dirty="0" err="1"/>
              <a:t>Tg</a:t>
            </a:r>
            <a:r>
              <a:rPr dirty="0"/>
              <a:t>) e </a:t>
            </a:r>
            <a:r>
              <a:rPr dirty="0" err="1"/>
              <a:t>fusão</a:t>
            </a:r>
            <a:r>
              <a:rPr dirty="0"/>
              <a:t> (Tm).</a:t>
            </a:r>
          </a:p>
          <a:p>
            <a:pPr>
              <a:spcBef>
                <a:spcPts val="800"/>
              </a:spcBef>
              <a:defRPr sz="1200" b="1">
                <a:solidFill>
                  <a:srgbClr val="0098A6"/>
                </a:solidFill>
                <a:latin typeface="Arial"/>
              </a:defRPr>
            </a:pPr>
            <a:r>
              <a:rPr dirty="0"/>
              <a:t>cm³ / mm³ (Volume)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rPr dirty="0"/>
              <a:t>👉 Tecla: Alt Gr + 3  </a:t>
            </a:r>
            <a:r>
              <a:rPr dirty="0" err="1"/>
              <a:t>ou</a:t>
            </a:r>
            <a:r>
              <a:rPr dirty="0"/>
              <a:t> </a:t>
            </a:r>
            <a:endParaRPr lang="pt-BR" dirty="0"/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rPr lang="pt-BR" sz="1100" dirty="0"/>
              <a:t>Segure a tecla </a:t>
            </a:r>
            <a:r>
              <a:rPr lang="pt-BR" sz="1100" b="1" dirty="0" err="1"/>
              <a:t>Alt</a:t>
            </a:r>
            <a:r>
              <a:rPr lang="pt-BR" sz="1100" dirty="0"/>
              <a:t> (da esquerda) e digite no teclado numérico lateral: </a:t>
            </a:r>
            <a:r>
              <a:rPr lang="pt-BR" sz="1100" b="1" dirty="0"/>
              <a:t>0179</a:t>
            </a:r>
            <a:r>
              <a:rPr lang="pt-BR" sz="1100" dirty="0"/>
              <a:t> (depois solte o </a:t>
            </a:r>
            <a:r>
              <a:rPr lang="pt-BR" sz="1100" dirty="0" err="1"/>
              <a:t>Alt</a:t>
            </a:r>
            <a:r>
              <a:rPr lang="pt-BR" sz="1100" dirty="0"/>
              <a:t>).</a:t>
            </a:r>
            <a:endParaRPr dirty="0"/>
          </a:p>
          <a:p>
            <a:pPr>
              <a:spcBef>
                <a:spcPts val="800"/>
              </a:spcBef>
              <a:defRPr sz="1200" b="1">
                <a:solidFill>
                  <a:srgbClr val="0098A6"/>
                </a:solidFill>
                <a:latin typeface="Arial"/>
              </a:defRPr>
            </a:pPr>
            <a:r>
              <a:rPr dirty="0"/>
              <a:t>mm² / m² (</a:t>
            </a:r>
            <a:r>
              <a:rPr dirty="0" err="1"/>
              <a:t>Área</a:t>
            </a:r>
            <a:r>
              <a:rPr dirty="0"/>
              <a:t>)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rPr dirty="0"/>
              <a:t>👉 Tecla: Alt Gr + 2  </a:t>
            </a:r>
            <a:r>
              <a:rPr lang="pt-BR" dirty="0"/>
              <a:t>ou  </a:t>
            </a:r>
            <a:r>
              <a:rPr lang="pt-BR" sz="1100" dirty="0"/>
              <a:t>Segure a tecla </a:t>
            </a:r>
            <a:r>
              <a:rPr lang="pt-BR" sz="1100" b="1" dirty="0" err="1"/>
              <a:t>Alt</a:t>
            </a:r>
            <a:r>
              <a:rPr lang="pt-BR" sz="1100" dirty="0"/>
              <a:t> (da esquerda) e digite no teclado numérico lateral: </a:t>
            </a:r>
            <a:r>
              <a:rPr lang="pt-BR" sz="1100" b="1" dirty="0"/>
              <a:t>0178</a:t>
            </a:r>
            <a:r>
              <a:rPr lang="pt-BR" sz="1100" dirty="0"/>
              <a:t> (ou </a:t>
            </a:r>
            <a:r>
              <a:rPr lang="pt-BR" sz="1100" b="1" dirty="0"/>
              <a:t>253</a:t>
            </a:r>
            <a:r>
              <a:rPr lang="pt-BR" sz="1100" dirty="0"/>
              <a:t>).</a:t>
            </a:r>
            <a:endParaRPr lang="pt-BR" dirty="0"/>
          </a:p>
          <a:p>
            <a:pPr>
              <a:spcBef>
                <a:spcPts val="800"/>
              </a:spcBef>
              <a:defRPr sz="1200" b="1">
                <a:solidFill>
                  <a:srgbClr val="0098A6"/>
                </a:solidFill>
                <a:latin typeface="Arial"/>
              </a:defRPr>
            </a:pPr>
            <a:r>
              <a:rPr lang="pt-BR" dirty="0"/>
              <a:t>± (Incerteza/Tolerância)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rPr dirty="0"/>
              <a:t>👉 Tecla: Alt + 0177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br>
              <a:rPr lang="pt-BR" dirty="0"/>
            </a:br>
            <a:endParaRPr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ABC6E77C-16AD-4D7C-9D53-1D2938E0DAD0}"/>
              </a:ext>
            </a:extLst>
          </p:cNvPr>
          <p:cNvSpPr/>
          <p:nvPr/>
        </p:nvSpPr>
        <p:spPr>
          <a:xfrm>
            <a:off x="4361688" y="15544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2A4A"/>
                </a:solidFill>
                <a:latin typeface="Arial"/>
              </a:defRPr>
            </a:pPr>
            <a:r>
              <a:t>⚡ Atalhos Fundamentais</a:t>
            </a:r>
          </a:p>
          <a:p>
            <a:pPr>
              <a:spcBef>
                <a:spcPts val="800"/>
              </a:spcBef>
              <a:defRPr sz="1200" b="1">
                <a:solidFill>
                  <a:srgbClr val="0F2A4A"/>
                </a:solidFill>
                <a:latin typeface="Arial"/>
              </a:defRPr>
            </a:pPr>
            <a:r>
              <a:t>Ctrl + C  /  Ctrl + V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Copiar e Colar dados sem perder formatação.</a:t>
            </a:r>
          </a:p>
          <a:p>
            <a:pPr>
              <a:spcBef>
                <a:spcPts val="800"/>
              </a:spcBef>
              <a:defRPr sz="1200" b="1">
                <a:solidFill>
                  <a:srgbClr val="0F2A4A"/>
                </a:solidFill>
                <a:latin typeface="Arial"/>
              </a:defRPr>
            </a:pPr>
            <a:r>
              <a:t>Ctrl + X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Recortar / mover dados e trechos de texto.</a:t>
            </a:r>
          </a:p>
          <a:p>
            <a:pPr>
              <a:spcBef>
                <a:spcPts val="800"/>
              </a:spcBef>
              <a:defRPr sz="1200" b="1">
                <a:solidFill>
                  <a:srgbClr val="0F2A4A"/>
                </a:solidFill>
                <a:latin typeface="Arial"/>
              </a:defRPr>
            </a:pPr>
            <a:r>
              <a:t>Ctrl + Z  /  Ctrl + Y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Desfazer e Refazer alterações rapidamente.</a:t>
            </a:r>
          </a:p>
          <a:p>
            <a:pPr>
              <a:spcBef>
                <a:spcPts val="800"/>
              </a:spcBef>
              <a:defRPr sz="1200" b="1">
                <a:solidFill>
                  <a:srgbClr val="0F2A4A"/>
                </a:solidFill>
                <a:latin typeface="Arial"/>
              </a:defRPr>
            </a:pPr>
            <a:r>
              <a:t>Ctrl + S  /  Ctrl + B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Salvar imediatamente (evita perda de dados).</a:t>
            </a:r>
          </a:p>
          <a:p>
            <a:pPr>
              <a:spcBef>
                <a:spcPts val="800"/>
              </a:spcBef>
              <a:defRPr sz="1200" b="1">
                <a:solidFill>
                  <a:srgbClr val="0F2A4A"/>
                </a:solidFill>
                <a:latin typeface="Arial"/>
              </a:defRPr>
            </a:pPr>
            <a:r>
              <a:t>Ctrl + A  /  Ctrl + T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Selecionar todo o conteúdo do documento/pasta.</a:t>
            </a:r>
          </a:p>
          <a:p>
            <a:pPr>
              <a:spcBef>
                <a:spcPts val="800"/>
              </a:spcBef>
              <a:defRPr sz="1200" b="1">
                <a:solidFill>
                  <a:srgbClr val="0F2A4A"/>
                </a:solidFill>
                <a:latin typeface="Arial"/>
              </a:defRPr>
            </a:pPr>
            <a:r>
              <a:t>Alt + Tab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Alternar entre janelas (ex: PDF do ensaio e Planilha).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7C9E730-7E70-4595-B844-3DFF27D5B507}"/>
              </a:ext>
            </a:extLst>
          </p:cNvPr>
          <p:cNvSpPr/>
          <p:nvPr/>
        </p:nvSpPr>
        <p:spPr>
          <a:xfrm>
            <a:off x="7991856" y="15544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65100"/>
                </a:solidFill>
                <a:latin typeface="Arial"/>
              </a:defRPr>
            </a:pPr>
            <a:r>
              <a:rPr dirty="0"/>
              <a:t>🎯 </a:t>
            </a:r>
            <a:r>
              <a:rPr dirty="0" err="1"/>
              <a:t>Desafio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Sala de Aula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rPr dirty="0" err="1"/>
              <a:t>Digite</a:t>
            </a:r>
            <a:r>
              <a:rPr dirty="0"/>
              <a:t> o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abaixo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atalhos</a:t>
            </a:r>
            <a:r>
              <a:rPr dirty="0"/>
              <a:t> do </a:t>
            </a:r>
            <a:r>
              <a:rPr dirty="0" err="1"/>
              <a:t>teclado</a:t>
            </a:r>
            <a:r>
              <a:rPr dirty="0"/>
              <a:t>:</a:t>
            </a:r>
          </a:p>
          <a:p>
            <a:pPr>
              <a:spcBef>
                <a:spcPts val="14500"/>
              </a:spcBef>
              <a:defRPr sz="1100">
                <a:solidFill>
                  <a:srgbClr val="1B8754"/>
                </a:solidFill>
                <a:latin typeface="Calibri"/>
              </a:defRPr>
            </a:pPr>
            <a:r>
              <a:rPr dirty="0"/>
              <a:t>💡 </a:t>
            </a:r>
            <a:r>
              <a:rPr dirty="0" err="1"/>
              <a:t>Dica</a:t>
            </a:r>
            <a:r>
              <a:rPr dirty="0"/>
              <a:t>: </a:t>
            </a:r>
            <a:r>
              <a:rPr dirty="0" err="1"/>
              <a:t>Sobrescrito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editores</a:t>
            </a:r>
            <a:r>
              <a:rPr dirty="0"/>
              <a:t>:</a:t>
            </a:r>
            <a:br>
              <a:rPr dirty="0"/>
            </a:br>
            <a:r>
              <a:rPr dirty="0"/>
              <a:t>• Word/PPT: Ctrl + Shift + +</a:t>
            </a:r>
            <a:br>
              <a:rPr dirty="0"/>
            </a:br>
            <a:r>
              <a:rPr dirty="0"/>
              <a:t>• LibreOffice: Ctrl + Shift + P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3A18A97-E7A1-4D80-88A1-AA9DBC8B707C}"/>
              </a:ext>
            </a:extLst>
          </p:cNvPr>
          <p:cNvSpPr/>
          <p:nvPr/>
        </p:nvSpPr>
        <p:spPr>
          <a:xfrm>
            <a:off x="8129016" y="2651760"/>
            <a:ext cx="3154680" cy="2011680"/>
          </a:xfrm>
          <a:prstGeom prst="rect">
            <a:avLst/>
          </a:prstGeom>
          <a:solidFill>
            <a:srgbClr val="EEF2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2A4A"/>
                </a:solidFill>
                <a:latin typeface="Courier New"/>
              </a:defRPr>
            </a:pPr>
            <a:r>
              <a:t>“O polipropileno (PP) foi ensaiado a 190 °C sob pressão contínua. As amostras apresentaram volume médio de 12,5 cm³ e área útil de 50 mm² (±0,05 mm²).”</a:t>
            </a:r>
          </a:p>
        </p:txBody>
      </p:sp>
    </p:spTree>
    <p:extLst>
      <p:ext uri="{BB962C8B-B14F-4D97-AF65-F5344CB8AC3E}">
        <p14:creationId xmlns:p14="http://schemas.microsoft.com/office/powerpoint/2010/main" val="135796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59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rPr dirty="0"/>
              <a:t>MÓDULO 04 • ESTRUTURA DE ARQUIVOS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 err="1"/>
              <a:t>Arquivos</a:t>
            </a:r>
            <a:r>
              <a:rPr dirty="0"/>
              <a:t> e Pastas</a:t>
            </a:r>
            <a:r>
              <a:rPr lang="pt-BR" dirty="0"/>
              <a:t> – como se organizar!!</a:t>
            </a: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/>
              <a:t>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rPr sz="1600" dirty="0"/>
              <a:t>📁 </a:t>
            </a:r>
            <a:r>
              <a:rPr sz="1600" dirty="0" err="1"/>
              <a:t>Estrutura</a:t>
            </a:r>
            <a:r>
              <a:rPr sz="1600" dirty="0"/>
              <a:t> </a:t>
            </a:r>
            <a:r>
              <a:rPr sz="1600" dirty="0" err="1"/>
              <a:t>Padrão</a:t>
            </a:r>
            <a:r>
              <a:rPr sz="1600" dirty="0"/>
              <a:t> da </a:t>
            </a:r>
            <a:r>
              <a:rPr sz="1600" dirty="0" err="1"/>
              <a:t>Disciplina</a:t>
            </a:r>
            <a:r>
              <a:rPr sz="1600" dirty="0"/>
              <a:t>: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rPr sz="1400" dirty="0"/>
              <a:t>INF-046_Polimeros/</a:t>
            </a:r>
            <a:br>
              <a:rPr sz="1400" dirty="0"/>
            </a:br>
            <a:r>
              <a:rPr sz="1400" dirty="0"/>
              <a:t>├── Aula_0</a:t>
            </a:r>
            <a:r>
              <a:rPr lang="pt-BR" sz="1400" dirty="0"/>
              <a:t>1</a:t>
            </a:r>
            <a:r>
              <a:rPr sz="1400" dirty="0"/>
              <a:t>_</a:t>
            </a:r>
            <a:r>
              <a:rPr sz="1400" dirty="0" err="1"/>
              <a:t>Informatica_Basica</a:t>
            </a:r>
            <a:r>
              <a:rPr sz="1400" dirty="0"/>
              <a:t>/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Exercicios</a:t>
            </a:r>
            <a:r>
              <a:rPr sz="1400" dirty="0"/>
              <a:t>/</a:t>
            </a:r>
            <a:br>
              <a:rPr sz="1400" dirty="0"/>
            </a:br>
            <a:r>
              <a:rPr sz="1400" dirty="0"/>
              <a:t>│   └── </a:t>
            </a:r>
            <a:r>
              <a:rPr sz="1400" dirty="0" err="1"/>
              <a:t>Entregas</a:t>
            </a:r>
            <a:r>
              <a:rPr sz="1400" dirty="0"/>
              <a:t>/</a:t>
            </a:r>
            <a:br>
              <a:rPr sz="1400" dirty="0"/>
            </a:br>
            <a:r>
              <a:rPr sz="1400" dirty="0"/>
              <a:t>├── </a:t>
            </a:r>
            <a:r>
              <a:rPr sz="1400" dirty="0" err="1"/>
              <a:t>Materiais</a:t>
            </a:r>
            <a:r>
              <a:rPr sz="1400" dirty="0"/>
              <a:t>/</a:t>
            </a:r>
            <a:br>
              <a:rPr sz="1400" dirty="0"/>
            </a:br>
            <a:r>
              <a:rPr sz="1400" dirty="0"/>
              <a:t>└── </a:t>
            </a:r>
            <a:r>
              <a:rPr sz="1400" dirty="0" err="1"/>
              <a:t>Relatorios_Projetos</a:t>
            </a:r>
            <a:r>
              <a:rPr sz="1400" dirty="0"/>
              <a:t>/</a:t>
            </a:r>
          </a:p>
          <a:p>
            <a:pPr>
              <a:defRPr sz="1100" i="1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💡 </a:t>
            </a:r>
            <a:r>
              <a:rPr sz="1600" dirty="0" err="1">
                <a:solidFill>
                  <a:schemeClr val="bg2"/>
                </a:solidFill>
              </a:rPr>
              <a:t>Regra</a:t>
            </a:r>
            <a:r>
              <a:rPr sz="1600" dirty="0">
                <a:solidFill>
                  <a:schemeClr val="bg2"/>
                </a:solidFill>
              </a:rPr>
              <a:t> de </a:t>
            </a:r>
            <a:r>
              <a:rPr sz="1600" dirty="0" err="1">
                <a:solidFill>
                  <a:schemeClr val="bg2"/>
                </a:solidFill>
              </a:rPr>
              <a:t>Ouro</a:t>
            </a:r>
            <a:r>
              <a:rPr sz="1600" dirty="0">
                <a:solidFill>
                  <a:schemeClr val="bg2"/>
                </a:solidFill>
              </a:rPr>
              <a:t>: </a:t>
            </a:r>
            <a:r>
              <a:rPr sz="1600" dirty="0" err="1">
                <a:solidFill>
                  <a:schemeClr val="bg2"/>
                </a:solidFill>
              </a:rPr>
              <a:t>Arquivos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nunca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soltos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na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Área</a:t>
            </a:r>
            <a:r>
              <a:rPr sz="1600" dirty="0">
                <a:solidFill>
                  <a:schemeClr val="bg2"/>
                </a:solidFill>
              </a:rPr>
              <a:t> de </a:t>
            </a:r>
            <a:r>
              <a:rPr sz="1600" dirty="0" err="1">
                <a:solidFill>
                  <a:schemeClr val="bg2"/>
                </a:solidFill>
              </a:rPr>
              <a:t>Trabalho</a:t>
            </a:r>
            <a:r>
              <a:rPr sz="1600" dirty="0">
                <a:solidFill>
                  <a:schemeClr val="bg2"/>
                </a:solidFill>
              </a:rPr>
              <a:t> (Desktop) </a:t>
            </a:r>
            <a:r>
              <a:rPr sz="1600" dirty="0" err="1">
                <a:solidFill>
                  <a:schemeClr val="bg2"/>
                </a:solidFill>
              </a:rPr>
              <a:t>ou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na</a:t>
            </a:r>
            <a:r>
              <a:rPr sz="1600" dirty="0">
                <a:solidFill>
                  <a:schemeClr val="bg2"/>
                </a:solidFill>
              </a:rPr>
              <a:t> pasta Downloads.</a:t>
            </a:r>
          </a:p>
        </p:txBody>
      </p:sp>
      <p:pic>
        <p:nvPicPr>
          <p:cNvPr id="4" name="Picture 3" descr="estrutura_pastas_organiz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MÓDULO 05 • RASTREABILIDADE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Salvar Bem é Encontrar Depois: Nomenclatura, Extensões e Versões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Como evitar sobrescrever arquivos e garantir a integridade dos dados técnicos.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rPr sz="1600" dirty="0"/>
              <a:t>1. </a:t>
            </a:r>
            <a:r>
              <a:rPr sz="1600" dirty="0" err="1"/>
              <a:t>Nomenclatura</a:t>
            </a:r>
            <a:r>
              <a:rPr sz="1600" dirty="0"/>
              <a:t> </a:t>
            </a:r>
            <a:r>
              <a:rPr sz="1600" dirty="0" err="1"/>
              <a:t>Padrão</a:t>
            </a:r>
            <a:endParaRPr sz="1600" dirty="0"/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rPr sz="1600" dirty="0"/>
              <a:t>Evite 'trabalho_final.docx'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Padrão</a:t>
            </a:r>
            <a:r>
              <a:rPr sz="1600" dirty="0"/>
              <a:t> </a:t>
            </a:r>
            <a:r>
              <a:rPr sz="1600" dirty="0" err="1"/>
              <a:t>recomendado</a:t>
            </a:r>
            <a:r>
              <a:rPr sz="1600" dirty="0"/>
              <a:t>:</a:t>
            </a:r>
            <a:br>
              <a:rPr sz="1600" dirty="0"/>
            </a:br>
            <a:r>
              <a:rPr sz="1600" dirty="0"/>
              <a:t>  Aula_02_Nome_Sobrenome</a:t>
            </a:r>
            <a:br>
              <a:rPr sz="1600" dirty="0"/>
            </a:br>
            <a:r>
              <a:rPr sz="1600" dirty="0"/>
              <a:t>• Sem </a:t>
            </a:r>
            <a:r>
              <a:rPr sz="1600" dirty="0" err="1"/>
              <a:t>espaços</a:t>
            </a:r>
            <a:r>
              <a:rPr sz="1600" dirty="0"/>
              <a:t> e </a:t>
            </a:r>
            <a:r>
              <a:rPr sz="1600" dirty="0" err="1"/>
              <a:t>sem</a:t>
            </a:r>
            <a:r>
              <a:rPr sz="1600" dirty="0"/>
              <a:t> </a:t>
            </a:r>
            <a:r>
              <a:rPr sz="1600" dirty="0" err="1"/>
              <a:t>caracteres</a:t>
            </a:r>
            <a:r>
              <a:rPr sz="1600" dirty="0"/>
              <a:t> </a:t>
            </a:r>
            <a:r>
              <a:rPr sz="1600" dirty="0" err="1"/>
              <a:t>especiais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Facilita</a:t>
            </a:r>
            <a:r>
              <a:rPr sz="1600" dirty="0"/>
              <a:t> a </a:t>
            </a:r>
            <a:r>
              <a:rPr sz="1600" dirty="0" err="1"/>
              <a:t>identificação</a:t>
            </a:r>
            <a:r>
              <a:rPr sz="1600" dirty="0"/>
              <a:t> e </a:t>
            </a:r>
            <a:r>
              <a:rPr sz="1600" dirty="0" err="1"/>
              <a:t>correção</a:t>
            </a:r>
            <a:r>
              <a:rPr sz="1600" dirty="0"/>
              <a:t> </a:t>
            </a:r>
            <a:r>
              <a:rPr sz="1600" dirty="0" err="1"/>
              <a:t>pelo</a:t>
            </a:r>
            <a:r>
              <a:rPr sz="1600" dirty="0"/>
              <a:t> professor.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rPr sz="1600" dirty="0"/>
              <a:t>2. </a:t>
            </a:r>
            <a:r>
              <a:rPr sz="1600" dirty="0" err="1"/>
              <a:t>Extensões</a:t>
            </a:r>
            <a:r>
              <a:rPr sz="1600" dirty="0"/>
              <a:t> de </a:t>
            </a:r>
            <a:r>
              <a:rPr sz="1600" dirty="0" err="1"/>
              <a:t>Arquivo</a:t>
            </a:r>
            <a:endParaRPr sz="1600" dirty="0"/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rPr sz="1600" dirty="0" err="1"/>
              <a:t>Reconheça</a:t>
            </a:r>
            <a:r>
              <a:rPr sz="1600" dirty="0"/>
              <a:t> o </a:t>
            </a:r>
            <a:r>
              <a:rPr sz="1600" dirty="0" err="1"/>
              <a:t>formato</a:t>
            </a:r>
            <a:r>
              <a:rPr sz="1600" dirty="0"/>
              <a:t> </a:t>
            </a:r>
            <a:r>
              <a:rPr sz="1600" dirty="0" err="1"/>
              <a:t>correto</a:t>
            </a:r>
            <a:endParaRPr sz="1600" dirty="0"/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• .</a:t>
            </a:r>
            <a:r>
              <a:rPr sz="1600" dirty="0" err="1"/>
              <a:t>odt</a:t>
            </a:r>
            <a:r>
              <a:rPr sz="1600" dirty="0"/>
              <a:t> / .docx → </a:t>
            </a:r>
            <a:r>
              <a:rPr sz="1600" dirty="0" err="1"/>
              <a:t>Documentos</a:t>
            </a:r>
            <a:r>
              <a:rPr sz="1600" dirty="0"/>
              <a:t> de </a:t>
            </a:r>
            <a:r>
              <a:rPr sz="1600" dirty="0" err="1"/>
              <a:t>texto</a:t>
            </a:r>
            <a:br>
              <a:rPr sz="1600" dirty="0"/>
            </a:br>
            <a:r>
              <a:rPr sz="1600" dirty="0"/>
              <a:t>• .</a:t>
            </a:r>
            <a:r>
              <a:rPr sz="1600" dirty="0" err="1"/>
              <a:t>ods</a:t>
            </a:r>
            <a:r>
              <a:rPr sz="1600" dirty="0"/>
              <a:t> / .xlsx → </a:t>
            </a:r>
            <a:r>
              <a:rPr sz="1600" dirty="0" err="1"/>
              <a:t>Planilhas</a:t>
            </a:r>
            <a:r>
              <a:rPr sz="1600" dirty="0"/>
              <a:t> </a:t>
            </a:r>
            <a:r>
              <a:rPr sz="1600" dirty="0" err="1"/>
              <a:t>eletrônicas</a:t>
            </a:r>
            <a:br>
              <a:rPr sz="1600" dirty="0"/>
            </a:br>
            <a:r>
              <a:rPr sz="1600" dirty="0"/>
              <a:t>• .pdf → </a:t>
            </a:r>
            <a:r>
              <a:rPr sz="1600" dirty="0" err="1"/>
              <a:t>Documento</a:t>
            </a:r>
            <a:r>
              <a:rPr sz="1600" dirty="0"/>
              <a:t> final 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editável</a:t>
            </a:r>
            <a:br>
              <a:rPr sz="1600" dirty="0"/>
            </a:br>
            <a:r>
              <a:rPr sz="1600" dirty="0"/>
              <a:t>• .csv → Dados </a:t>
            </a:r>
            <a:r>
              <a:rPr sz="1600" dirty="0" err="1"/>
              <a:t>brutos</a:t>
            </a:r>
            <a:r>
              <a:rPr sz="1600" dirty="0"/>
              <a:t> de </a:t>
            </a:r>
            <a:r>
              <a:rPr sz="1600" dirty="0" err="1"/>
              <a:t>equipamentos</a:t>
            </a:r>
            <a:r>
              <a:rPr sz="1600"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rPr sz="1600" dirty="0"/>
              <a:t>3. </a:t>
            </a:r>
            <a:r>
              <a:rPr sz="1600" dirty="0" err="1"/>
              <a:t>Salvar</a:t>
            </a:r>
            <a:r>
              <a:rPr sz="1600" dirty="0"/>
              <a:t> vs </a:t>
            </a:r>
            <a:r>
              <a:rPr sz="1600" dirty="0" err="1"/>
              <a:t>Salvar</a:t>
            </a:r>
            <a:r>
              <a:rPr sz="1600" dirty="0"/>
              <a:t> Como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rPr sz="1600" dirty="0" err="1"/>
              <a:t>Controle</a:t>
            </a:r>
            <a:r>
              <a:rPr sz="1600" dirty="0"/>
              <a:t> de </a:t>
            </a:r>
            <a:r>
              <a:rPr sz="1600" dirty="0" err="1"/>
              <a:t>versões</a:t>
            </a:r>
            <a:r>
              <a:rPr sz="1600" dirty="0"/>
              <a:t> (_v1, _v2)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Salvar</a:t>
            </a:r>
            <a:r>
              <a:rPr sz="1600" dirty="0"/>
              <a:t> (</a:t>
            </a:r>
            <a:r>
              <a:rPr sz="1600" dirty="0" err="1"/>
              <a:t>Ctrl+S</a:t>
            </a:r>
            <a:r>
              <a:rPr sz="1600" dirty="0"/>
              <a:t>): </a:t>
            </a:r>
            <a:r>
              <a:rPr sz="1600" dirty="0" err="1"/>
              <a:t>atualiza</a:t>
            </a:r>
            <a:r>
              <a:rPr sz="1600" dirty="0"/>
              <a:t> o </a:t>
            </a:r>
            <a:r>
              <a:rPr sz="1600" dirty="0" err="1"/>
              <a:t>arquivo</a:t>
            </a:r>
            <a:r>
              <a:rPr sz="1600" dirty="0"/>
              <a:t> </a:t>
            </a:r>
            <a:r>
              <a:rPr sz="1600" dirty="0" err="1"/>
              <a:t>atual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Salvar</a:t>
            </a:r>
            <a:r>
              <a:rPr sz="1600" dirty="0"/>
              <a:t> Como: </a:t>
            </a:r>
            <a:r>
              <a:rPr sz="1600" dirty="0" err="1"/>
              <a:t>cria</a:t>
            </a:r>
            <a:r>
              <a:rPr sz="1600" dirty="0"/>
              <a:t> nova </a:t>
            </a:r>
            <a:r>
              <a:rPr sz="1600" dirty="0" err="1"/>
              <a:t>versão</a:t>
            </a:r>
            <a:r>
              <a:rPr sz="1600" dirty="0"/>
              <a:t> </a:t>
            </a:r>
            <a:r>
              <a:rPr sz="1600" dirty="0" err="1"/>
              <a:t>independente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Desafio</a:t>
            </a:r>
            <a:r>
              <a:rPr sz="1600" dirty="0"/>
              <a:t>: </a:t>
            </a:r>
            <a:r>
              <a:rPr sz="1600" dirty="0" err="1"/>
              <a:t>Salvar</a:t>
            </a:r>
            <a:r>
              <a:rPr sz="1600" dirty="0"/>
              <a:t> 'Aula_02_Nome_v1' e </a:t>
            </a:r>
            <a:r>
              <a:rPr sz="1600" dirty="0" err="1"/>
              <a:t>criar</a:t>
            </a:r>
            <a:r>
              <a:rPr sz="1600" dirty="0"/>
              <a:t> 'Aula_02_Nome_v2'.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7B1E0DB-8831-43D1-BCB5-26A2F916112B}"/>
              </a:ext>
            </a:extLst>
          </p:cNvPr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rPr dirty="0"/>
              <a:t>INF-046 | ARMAZENAMENTO &amp; MOBILIDADE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71D07C-E26D-49D8-9559-E7BA0A7AE19C}"/>
              </a:ext>
            </a:extLst>
          </p:cNvPr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O que é a </a:t>
            </a:r>
            <a:r>
              <a:rPr dirty="0" err="1"/>
              <a:t>Nuvem</a:t>
            </a:r>
            <a:r>
              <a:rPr dirty="0"/>
              <a:t> e Como </a:t>
            </a:r>
            <a:r>
              <a:rPr dirty="0" err="1"/>
              <a:t>Acessar</a:t>
            </a:r>
            <a:r>
              <a:rPr dirty="0"/>
              <a:t> no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 a </a:t>
            </a:r>
            <a:r>
              <a:rPr dirty="0" err="1"/>
              <a:t>Dia</a:t>
            </a:r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0DE0991-0A74-4F65-9C1A-9248329A2431}"/>
              </a:ext>
            </a:extLst>
          </p:cNvPr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Integrando</a:t>
            </a:r>
            <a:r>
              <a:rPr dirty="0"/>
              <a:t> o </a:t>
            </a:r>
            <a:r>
              <a:rPr dirty="0" err="1"/>
              <a:t>computador</a:t>
            </a:r>
            <a:r>
              <a:rPr dirty="0"/>
              <a:t> local do </a:t>
            </a:r>
            <a:r>
              <a:rPr dirty="0" err="1"/>
              <a:t>laboratório</a:t>
            </a:r>
            <a:r>
              <a:rPr dirty="0"/>
              <a:t> com o Google Drive </a:t>
            </a:r>
            <a:r>
              <a:rPr dirty="0" err="1"/>
              <a:t>institucional</a:t>
            </a:r>
            <a:endParaRPr dirty="0"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1150178-326D-424F-A5F6-A22DE29C93CA}"/>
              </a:ext>
            </a:extLst>
          </p:cNvPr>
          <p:cNvSpPr/>
          <p:nvPr/>
        </p:nvSpPr>
        <p:spPr>
          <a:xfrm>
            <a:off x="445808" y="1508760"/>
            <a:ext cx="5907367" cy="258699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600" b="1">
                <a:solidFill>
                  <a:srgbClr val="06B6D4"/>
                </a:solidFill>
                <a:latin typeface="Arial"/>
              </a:defRPr>
            </a:pPr>
            <a:r>
              <a:rPr sz="1400" dirty="0"/>
              <a:t>☁️ O que é </a:t>
            </a:r>
            <a:r>
              <a:rPr sz="1400" dirty="0" err="1"/>
              <a:t>Armazenamento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Nuvem</a:t>
            </a:r>
            <a:r>
              <a:rPr sz="1400" dirty="0"/>
              <a:t>?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8FAFC"/>
                </a:solidFill>
              </a:rPr>
              <a:t>• </a:t>
            </a:r>
            <a:r>
              <a:rPr sz="1400" b="1" dirty="0" err="1">
                <a:solidFill>
                  <a:srgbClr val="F8FAFC"/>
                </a:solidFill>
              </a:rPr>
              <a:t>Armazenamento</a:t>
            </a:r>
            <a:r>
              <a:rPr sz="1400" b="1" dirty="0">
                <a:solidFill>
                  <a:srgbClr val="F8FAFC"/>
                </a:solidFill>
              </a:rPr>
              <a:t> </a:t>
            </a:r>
            <a:r>
              <a:rPr sz="1400" b="1" dirty="0" err="1">
                <a:solidFill>
                  <a:srgbClr val="F8FAFC"/>
                </a:solidFill>
              </a:rPr>
              <a:t>seguro</a:t>
            </a:r>
            <a:r>
              <a:rPr sz="1400" b="1" dirty="0">
                <a:solidFill>
                  <a:srgbClr val="F8FAFC"/>
                </a:solidFill>
              </a:rPr>
              <a:t> </a:t>
            </a:r>
            <a:r>
              <a:rPr sz="1400" b="1" dirty="0" err="1">
                <a:solidFill>
                  <a:srgbClr val="F8FAFC"/>
                </a:solidFill>
              </a:rPr>
              <a:t>em</a:t>
            </a:r>
            <a:r>
              <a:rPr sz="1400" b="1" dirty="0">
                <a:solidFill>
                  <a:srgbClr val="F8FAFC"/>
                </a:solidFill>
              </a:rPr>
              <a:t> </a:t>
            </a:r>
            <a:r>
              <a:rPr sz="1400" b="1" dirty="0" err="1">
                <a:solidFill>
                  <a:srgbClr val="F8FAFC"/>
                </a:solidFill>
              </a:rPr>
              <a:t>servidores</a:t>
            </a:r>
            <a:r>
              <a:rPr sz="1400" b="1" dirty="0">
                <a:solidFill>
                  <a:srgbClr val="F8FAFC"/>
                </a:solidFill>
              </a:rPr>
              <a:t> </a:t>
            </a:r>
            <a:r>
              <a:rPr sz="1400" b="1" dirty="0" err="1">
                <a:solidFill>
                  <a:srgbClr val="F8FAFC"/>
                </a:solidFill>
              </a:rPr>
              <a:t>remotos</a:t>
            </a:r>
            <a:r>
              <a:rPr sz="1400" b="1" dirty="0">
                <a:solidFill>
                  <a:srgbClr val="F8FAFC"/>
                </a:solidFill>
              </a:rPr>
              <a:t>: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Seus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arquivos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não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ficam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presos</a:t>
            </a:r>
            <a:r>
              <a:rPr sz="1400" dirty="0">
                <a:solidFill>
                  <a:schemeClr val="bg2"/>
                </a:solidFill>
              </a:rPr>
              <a:t> à </a:t>
            </a:r>
            <a:r>
              <a:rPr sz="1400" dirty="0" err="1">
                <a:solidFill>
                  <a:schemeClr val="bg2"/>
                </a:solidFill>
              </a:rPr>
              <a:t>máquina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física</a:t>
            </a:r>
            <a:r>
              <a:rPr sz="1400" dirty="0">
                <a:solidFill>
                  <a:schemeClr val="bg2"/>
                </a:solidFill>
              </a:rPr>
              <a:t> do </a:t>
            </a:r>
            <a:r>
              <a:rPr sz="1400" dirty="0" err="1">
                <a:solidFill>
                  <a:schemeClr val="bg2"/>
                </a:solidFill>
              </a:rPr>
              <a:t>laboratório</a:t>
            </a:r>
            <a:r>
              <a:rPr sz="1400" dirty="0">
                <a:solidFill>
                  <a:schemeClr val="bg2"/>
                </a:solidFill>
              </a:rPr>
              <a:t>; </a:t>
            </a:r>
            <a:r>
              <a:rPr sz="1400" dirty="0" err="1">
                <a:solidFill>
                  <a:schemeClr val="bg2"/>
                </a:solidFill>
              </a:rPr>
              <a:t>podem</a:t>
            </a:r>
            <a:r>
              <a:rPr sz="1400" dirty="0">
                <a:solidFill>
                  <a:schemeClr val="bg2"/>
                </a:solidFill>
              </a:rPr>
              <a:t> ser </a:t>
            </a:r>
            <a:r>
              <a:rPr sz="1400" dirty="0" err="1">
                <a:solidFill>
                  <a:schemeClr val="bg2"/>
                </a:solidFill>
              </a:rPr>
              <a:t>acessados</a:t>
            </a:r>
            <a:r>
              <a:rPr sz="1400" dirty="0">
                <a:solidFill>
                  <a:schemeClr val="bg2"/>
                </a:solidFill>
              </a:rPr>
              <a:t> de </a:t>
            </a:r>
            <a:r>
              <a:rPr sz="1400" dirty="0" err="1">
                <a:solidFill>
                  <a:schemeClr val="bg2"/>
                </a:solidFill>
              </a:rPr>
              <a:t>qualquer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lugar</a:t>
            </a:r>
            <a:r>
              <a:rPr sz="1400" dirty="0">
                <a:solidFill>
                  <a:schemeClr val="bg2"/>
                </a:solidFill>
              </a:rPr>
              <a:t> com internet.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8FAFC"/>
                </a:solidFill>
              </a:rPr>
              <a:t>• </a:t>
            </a:r>
            <a:r>
              <a:rPr sz="1400" b="1" dirty="0" err="1">
                <a:solidFill>
                  <a:srgbClr val="F8FAFC"/>
                </a:solidFill>
              </a:rPr>
              <a:t>Sincronização</a:t>
            </a:r>
            <a:r>
              <a:rPr sz="1400" b="1" dirty="0">
                <a:solidFill>
                  <a:srgbClr val="F8FAFC"/>
                </a:solidFill>
              </a:rPr>
              <a:t> &amp; Backup:</a:t>
            </a:r>
            <a:r>
              <a:rPr sz="1400" dirty="0">
                <a:solidFill>
                  <a:srgbClr val="94A3B8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Cria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uma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cópia</a:t>
            </a:r>
            <a:r>
              <a:rPr sz="1400" dirty="0">
                <a:solidFill>
                  <a:schemeClr val="bg2"/>
                </a:solidFill>
              </a:rPr>
              <a:t> viva dos </a:t>
            </a:r>
            <a:r>
              <a:rPr sz="1400" dirty="0" err="1">
                <a:solidFill>
                  <a:schemeClr val="bg2"/>
                </a:solidFill>
              </a:rPr>
              <a:t>seus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ensaios</a:t>
            </a:r>
            <a:r>
              <a:rPr sz="1400" dirty="0">
                <a:solidFill>
                  <a:schemeClr val="bg2"/>
                </a:solidFill>
              </a:rPr>
              <a:t>, </a:t>
            </a:r>
            <a:r>
              <a:rPr sz="1400" dirty="0" err="1">
                <a:solidFill>
                  <a:schemeClr val="bg2"/>
                </a:solidFill>
              </a:rPr>
              <a:t>relatórios</a:t>
            </a:r>
            <a:r>
              <a:rPr sz="1400" dirty="0">
                <a:solidFill>
                  <a:schemeClr val="bg2"/>
                </a:solidFill>
              </a:rPr>
              <a:t> e </a:t>
            </a:r>
            <a:r>
              <a:rPr sz="1400" dirty="0" err="1">
                <a:solidFill>
                  <a:schemeClr val="bg2"/>
                </a:solidFill>
              </a:rPr>
              <a:t>planilhas</a:t>
            </a:r>
            <a:r>
              <a:rPr sz="1400" dirty="0">
                <a:solidFill>
                  <a:schemeClr val="bg2"/>
                </a:solidFill>
              </a:rPr>
              <a:t>, </a:t>
            </a:r>
            <a:r>
              <a:rPr sz="1400" dirty="0" err="1">
                <a:solidFill>
                  <a:schemeClr val="bg2"/>
                </a:solidFill>
              </a:rPr>
              <a:t>evitando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perda</a:t>
            </a:r>
            <a:r>
              <a:rPr sz="1400" dirty="0">
                <a:solidFill>
                  <a:schemeClr val="bg2"/>
                </a:solidFill>
              </a:rPr>
              <a:t> de dados </a:t>
            </a:r>
            <a:r>
              <a:rPr sz="1400" dirty="0" err="1">
                <a:solidFill>
                  <a:schemeClr val="bg2"/>
                </a:solidFill>
              </a:rPr>
              <a:t>caso</a:t>
            </a:r>
            <a:r>
              <a:rPr sz="1400" dirty="0">
                <a:solidFill>
                  <a:schemeClr val="bg2"/>
                </a:solidFill>
              </a:rPr>
              <a:t> o </a:t>
            </a:r>
            <a:r>
              <a:rPr sz="1400" dirty="0" err="1">
                <a:solidFill>
                  <a:schemeClr val="bg2"/>
                </a:solidFill>
              </a:rPr>
              <a:t>computador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desligue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ou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apresente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falhas</a:t>
            </a:r>
            <a:r>
              <a:rPr sz="1400" dirty="0">
                <a:solidFill>
                  <a:schemeClr val="bg2"/>
                </a:solidFill>
              </a:rPr>
              <a:t>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8FAFC"/>
                </a:solidFill>
              </a:rPr>
              <a:t>• </a:t>
            </a:r>
            <a:r>
              <a:rPr sz="1400" b="1" dirty="0" err="1">
                <a:solidFill>
                  <a:srgbClr val="F8FAFC"/>
                </a:solidFill>
              </a:rPr>
              <a:t>Colaboração</a:t>
            </a:r>
            <a:r>
              <a:rPr sz="1400" b="1" dirty="0">
                <a:solidFill>
                  <a:srgbClr val="F8FAFC"/>
                </a:solidFill>
              </a:rPr>
              <a:t> </a:t>
            </a:r>
            <a:r>
              <a:rPr sz="1400" b="1" dirty="0" err="1">
                <a:solidFill>
                  <a:srgbClr val="F8FAFC"/>
                </a:solidFill>
              </a:rPr>
              <a:t>em</a:t>
            </a:r>
            <a:r>
              <a:rPr sz="1400" b="1" dirty="0">
                <a:solidFill>
                  <a:srgbClr val="F8FAFC"/>
                </a:solidFill>
              </a:rPr>
              <a:t> Tempo Real:</a:t>
            </a:r>
            <a:r>
              <a:rPr sz="1400" dirty="0">
                <a:solidFill>
                  <a:srgbClr val="94A3B8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Várias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pessoas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podem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editar</a:t>
            </a:r>
            <a:r>
              <a:rPr sz="1400" dirty="0">
                <a:solidFill>
                  <a:schemeClr val="bg2"/>
                </a:solidFill>
              </a:rPr>
              <a:t> o </a:t>
            </a:r>
            <a:r>
              <a:rPr sz="1400" dirty="0" err="1">
                <a:solidFill>
                  <a:schemeClr val="bg2"/>
                </a:solidFill>
              </a:rPr>
              <a:t>mesmo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documento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técnico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simultaneamente</a:t>
            </a:r>
            <a:r>
              <a:rPr sz="140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21267702-DD32-4234-9777-5CD56F77884D}"/>
              </a:ext>
            </a:extLst>
          </p:cNvPr>
          <p:cNvSpPr/>
          <p:nvPr/>
        </p:nvSpPr>
        <p:spPr>
          <a:xfrm>
            <a:off x="445808" y="4164809"/>
            <a:ext cx="5907367" cy="258699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600" b="1">
                <a:solidFill>
                  <a:srgbClr val="14B8A6"/>
                </a:solidFill>
                <a:latin typeface="Arial"/>
              </a:defRPr>
            </a:pPr>
            <a:r>
              <a:rPr sz="1200" dirty="0"/>
              <a:t>🚀 Como </a:t>
            </a:r>
            <a:r>
              <a:rPr sz="1200" dirty="0" err="1"/>
              <a:t>Acessar</a:t>
            </a:r>
            <a:r>
              <a:rPr sz="1200" dirty="0"/>
              <a:t> e </a:t>
            </a:r>
            <a:r>
              <a:rPr sz="1200" dirty="0" err="1"/>
              <a:t>Organizar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Nuvem</a:t>
            </a:r>
            <a:r>
              <a:rPr sz="1200" dirty="0"/>
              <a:t> (Google Drive)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8FAFC"/>
                </a:solidFill>
              </a:rPr>
              <a:t>1. </a:t>
            </a:r>
            <a:r>
              <a:rPr sz="1400" b="1" dirty="0" err="1">
                <a:solidFill>
                  <a:srgbClr val="F8FAFC"/>
                </a:solidFill>
              </a:rPr>
              <a:t>Acesso</a:t>
            </a:r>
            <a:r>
              <a:rPr sz="1400" b="1" dirty="0">
                <a:solidFill>
                  <a:srgbClr val="F8FAFC"/>
                </a:solidFill>
              </a:rPr>
              <a:t> </a:t>
            </a:r>
            <a:r>
              <a:rPr sz="1400" b="1" dirty="0" err="1">
                <a:solidFill>
                  <a:srgbClr val="F8FAFC"/>
                </a:solidFill>
              </a:rPr>
              <a:t>Institucional</a:t>
            </a:r>
            <a:r>
              <a:rPr sz="1400" b="1" dirty="0">
                <a:solidFill>
                  <a:srgbClr val="F8FAFC"/>
                </a:solidFill>
              </a:rPr>
              <a:t>: </a:t>
            </a:r>
            <a:r>
              <a:rPr sz="1400" dirty="0">
                <a:solidFill>
                  <a:srgbClr val="94A3B8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Abra</a:t>
            </a:r>
            <a:r>
              <a:rPr sz="1400" dirty="0">
                <a:solidFill>
                  <a:schemeClr val="bg2"/>
                </a:solidFill>
              </a:rPr>
              <a:t> o </a:t>
            </a:r>
            <a:r>
              <a:rPr sz="1400" dirty="0" err="1">
                <a:solidFill>
                  <a:schemeClr val="bg2"/>
                </a:solidFill>
              </a:rPr>
              <a:t>navegador</a:t>
            </a:r>
            <a:r>
              <a:rPr sz="1400" dirty="0">
                <a:solidFill>
                  <a:schemeClr val="bg2"/>
                </a:solidFill>
              </a:rPr>
              <a:t> &gt; </a:t>
            </a:r>
            <a:r>
              <a:rPr sz="1400" dirty="0" err="1">
                <a:solidFill>
                  <a:schemeClr val="bg2"/>
                </a:solidFill>
              </a:rPr>
              <a:t>acesse</a:t>
            </a:r>
            <a:r>
              <a:rPr sz="1400" dirty="0">
                <a:solidFill>
                  <a:schemeClr val="bg2"/>
                </a:solidFill>
              </a:rPr>
              <a:t> drive.google.com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8FAFC"/>
                </a:solidFill>
              </a:rPr>
              <a:t>2. </a:t>
            </a:r>
            <a:r>
              <a:rPr sz="1400" b="1" dirty="0" err="1">
                <a:solidFill>
                  <a:srgbClr val="F8FAFC"/>
                </a:solidFill>
              </a:rPr>
              <a:t>Replicar</a:t>
            </a:r>
            <a:r>
              <a:rPr sz="1400" b="1" dirty="0">
                <a:solidFill>
                  <a:srgbClr val="F8FAFC"/>
                </a:solidFill>
              </a:rPr>
              <a:t> a </a:t>
            </a:r>
            <a:r>
              <a:rPr sz="1400" b="1" dirty="0" err="1">
                <a:solidFill>
                  <a:srgbClr val="F8FAFC"/>
                </a:solidFill>
              </a:rPr>
              <a:t>Estrutura</a:t>
            </a:r>
            <a:r>
              <a:rPr sz="1400" b="1" dirty="0">
                <a:solidFill>
                  <a:srgbClr val="F8FAFC"/>
                </a:solidFill>
              </a:rPr>
              <a:t>: </a:t>
            </a:r>
            <a:r>
              <a:rPr sz="1400" dirty="0">
                <a:solidFill>
                  <a:srgbClr val="94A3B8"/>
                </a:solidFill>
              </a:rPr>
              <a:t> </a:t>
            </a:r>
            <a:r>
              <a:rPr sz="1400" dirty="0">
                <a:solidFill>
                  <a:schemeClr val="bg2"/>
                </a:solidFill>
              </a:rPr>
              <a:t>Clique </a:t>
            </a:r>
            <a:r>
              <a:rPr sz="1400" dirty="0" err="1">
                <a:solidFill>
                  <a:schemeClr val="bg2"/>
                </a:solidFill>
              </a:rPr>
              <a:t>em</a:t>
            </a:r>
            <a:r>
              <a:rPr sz="1400" dirty="0">
                <a:solidFill>
                  <a:schemeClr val="bg2"/>
                </a:solidFill>
              </a:rPr>
              <a:t> '+ Novo' &gt; 'Nova pasta' e </a:t>
            </a:r>
            <a:r>
              <a:rPr sz="1400" dirty="0" err="1">
                <a:solidFill>
                  <a:schemeClr val="bg2"/>
                </a:solidFill>
              </a:rPr>
              <a:t>crie</a:t>
            </a:r>
            <a:r>
              <a:rPr sz="1400" dirty="0">
                <a:solidFill>
                  <a:schemeClr val="bg2"/>
                </a:solidFill>
              </a:rPr>
              <a:t> a </a:t>
            </a:r>
            <a:r>
              <a:rPr sz="1400" dirty="0" err="1">
                <a:solidFill>
                  <a:schemeClr val="bg2"/>
                </a:solidFill>
              </a:rPr>
              <a:t>mesma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árvore</a:t>
            </a:r>
            <a:r>
              <a:rPr sz="1400" dirty="0">
                <a:solidFill>
                  <a:schemeClr val="bg2"/>
                </a:solidFill>
              </a:rPr>
              <a:t> INF-046_Polimeros </a:t>
            </a:r>
            <a:r>
              <a:rPr sz="1400" dirty="0" err="1">
                <a:solidFill>
                  <a:schemeClr val="bg2"/>
                </a:solidFill>
              </a:rPr>
              <a:t>na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nuvem</a:t>
            </a:r>
            <a:r>
              <a:rPr sz="1400" dirty="0">
                <a:solidFill>
                  <a:schemeClr val="bg2"/>
                </a:solidFill>
              </a:rPr>
              <a:t>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8FAFC"/>
                </a:solidFill>
              </a:rPr>
              <a:t>3. Upload </a:t>
            </a:r>
            <a:r>
              <a:rPr sz="1400" b="1" dirty="0" err="1">
                <a:solidFill>
                  <a:srgbClr val="F8FAFC"/>
                </a:solidFill>
              </a:rPr>
              <a:t>Fácil</a:t>
            </a:r>
            <a:r>
              <a:rPr sz="1400" b="1" dirty="0">
                <a:solidFill>
                  <a:srgbClr val="F8FAFC"/>
                </a:solidFill>
              </a:rPr>
              <a:t>: </a:t>
            </a:r>
            <a:r>
              <a:rPr sz="1400" dirty="0">
                <a:solidFill>
                  <a:srgbClr val="94A3B8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Arraste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arquivos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ou</a:t>
            </a:r>
            <a:r>
              <a:rPr sz="1400" dirty="0">
                <a:solidFill>
                  <a:schemeClr val="bg2"/>
                </a:solidFill>
              </a:rPr>
              <a:t> pastas </a:t>
            </a:r>
            <a:r>
              <a:rPr sz="1400" dirty="0" err="1">
                <a:solidFill>
                  <a:schemeClr val="bg2"/>
                </a:solidFill>
              </a:rPr>
              <a:t>inteiras</a:t>
            </a:r>
            <a:r>
              <a:rPr sz="1400" dirty="0">
                <a:solidFill>
                  <a:schemeClr val="bg2"/>
                </a:solidFill>
              </a:rPr>
              <a:t> do </a:t>
            </a:r>
            <a:r>
              <a:rPr sz="1400" dirty="0" err="1">
                <a:solidFill>
                  <a:schemeClr val="bg2"/>
                </a:solidFill>
              </a:rPr>
              <a:t>computador</a:t>
            </a:r>
            <a:r>
              <a:rPr sz="1400" dirty="0">
                <a:solidFill>
                  <a:schemeClr val="bg2"/>
                </a:solidFill>
              </a:rPr>
              <a:t> local </a:t>
            </a:r>
            <a:r>
              <a:rPr sz="1400" dirty="0" err="1">
                <a:solidFill>
                  <a:schemeClr val="bg2"/>
                </a:solidFill>
              </a:rPr>
              <a:t>diretamente</a:t>
            </a:r>
            <a:r>
              <a:rPr sz="1400" dirty="0">
                <a:solidFill>
                  <a:schemeClr val="bg2"/>
                </a:solidFill>
              </a:rPr>
              <a:t> para a </a:t>
            </a:r>
            <a:r>
              <a:rPr sz="1400" dirty="0" err="1">
                <a:solidFill>
                  <a:schemeClr val="bg2"/>
                </a:solidFill>
              </a:rPr>
              <a:t>janela</a:t>
            </a:r>
            <a:r>
              <a:rPr sz="1400" dirty="0">
                <a:solidFill>
                  <a:schemeClr val="bg2"/>
                </a:solidFill>
              </a:rPr>
              <a:t> do Drive.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59E0B"/>
                </a:solidFill>
              </a:rPr>
              <a:t>💡 </a:t>
            </a:r>
            <a:r>
              <a:rPr sz="1400" b="1" dirty="0" err="1">
                <a:solidFill>
                  <a:srgbClr val="F59E0B"/>
                </a:solidFill>
              </a:rPr>
              <a:t>Dica</a:t>
            </a:r>
            <a:r>
              <a:rPr sz="1400" b="1" dirty="0">
                <a:solidFill>
                  <a:srgbClr val="F59E0B"/>
                </a:solidFill>
              </a:rPr>
              <a:t> de </a:t>
            </a:r>
            <a:r>
              <a:rPr sz="1400" b="1" dirty="0" err="1">
                <a:solidFill>
                  <a:srgbClr val="F59E0B"/>
                </a:solidFill>
              </a:rPr>
              <a:t>Ouro</a:t>
            </a:r>
            <a:r>
              <a:rPr sz="1400" b="1" dirty="0">
                <a:solidFill>
                  <a:srgbClr val="F59E0B"/>
                </a:solidFill>
              </a:rPr>
              <a:t>: </a:t>
            </a:r>
            <a:r>
              <a:rPr sz="1400" dirty="0">
                <a:solidFill>
                  <a:srgbClr val="94A3B8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Nunca</a:t>
            </a:r>
            <a:r>
              <a:rPr sz="1400" dirty="0">
                <a:solidFill>
                  <a:schemeClr val="bg2"/>
                </a:solidFill>
              </a:rPr>
              <a:t> salve </a:t>
            </a:r>
            <a:r>
              <a:rPr sz="1400" dirty="0" err="1">
                <a:solidFill>
                  <a:schemeClr val="bg2"/>
                </a:solidFill>
              </a:rPr>
              <a:t>arquivos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confidenciais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em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computadores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públicos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sem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fazer</a:t>
            </a:r>
            <a:r>
              <a:rPr sz="1400" dirty="0">
                <a:solidFill>
                  <a:schemeClr val="bg2"/>
                </a:solidFill>
              </a:rPr>
              <a:t> logoff da </a:t>
            </a:r>
            <a:r>
              <a:rPr sz="1400" dirty="0" err="1">
                <a:solidFill>
                  <a:schemeClr val="bg2"/>
                </a:solidFill>
              </a:rPr>
              <a:t>sua</a:t>
            </a:r>
            <a:r>
              <a:rPr sz="1400" dirty="0">
                <a:solidFill>
                  <a:schemeClr val="bg2"/>
                </a:solidFill>
              </a:rPr>
              <a:t> </a:t>
            </a:r>
            <a:r>
              <a:rPr sz="1400" dirty="0" err="1">
                <a:solidFill>
                  <a:schemeClr val="bg2"/>
                </a:solidFill>
              </a:rPr>
              <a:t>conta</a:t>
            </a:r>
            <a:r>
              <a:rPr sz="1400" dirty="0">
                <a:solidFill>
                  <a:schemeClr val="bg2"/>
                </a:solidFill>
              </a:rPr>
              <a:t>!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09D9618-02D7-4D1E-963C-8C894076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155" y="1282344"/>
            <a:ext cx="3118119" cy="5209896"/>
          </a:xfrm>
          <a:prstGeom prst="rect">
            <a:avLst/>
          </a:prstGeom>
        </p:spPr>
      </p:pic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F27C1A0-2EEF-4A6A-8606-54D8B94BF130}"/>
              </a:ext>
            </a:extLst>
          </p:cNvPr>
          <p:cNvSpPr/>
          <p:nvPr/>
        </p:nvSpPr>
        <p:spPr>
          <a:xfrm>
            <a:off x="7591424" y="4095750"/>
            <a:ext cx="1895475" cy="838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014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7B1E0DB-8831-43D1-BCB5-26A2F916112B}"/>
              </a:ext>
            </a:extLst>
          </p:cNvPr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rPr dirty="0"/>
              <a:t>INF-046 | ARMAZENAMENTO &amp; MOBILIDADE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71D07C-E26D-49D8-9559-E7BA0A7AE19C}"/>
              </a:ext>
            </a:extLst>
          </p:cNvPr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O que é a </a:t>
            </a:r>
            <a:r>
              <a:rPr dirty="0" err="1"/>
              <a:t>Nuvem</a:t>
            </a:r>
            <a:r>
              <a:rPr dirty="0"/>
              <a:t> e Como </a:t>
            </a:r>
            <a:r>
              <a:rPr dirty="0" err="1"/>
              <a:t>Acessar</a:t>
            </a:r>
            <a:r>
              <a:rPr dirty="0"/>
              <a:t> no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 a </a:t>
            </a:r>
            <a:r>
              <a:rPr dirty="0" err="1"/>
              <a:t>Dia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2D9B867-5E96-4895-BC5F-B646BF05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61" y="1367916"/>
            <a:ext cx="9305925" cy="4842384"/>
          </a:xfrm>
          <a:prstGeom prst="rect">
            <a:avLst/>
          </a:prstGeom>
        </p:spPr>
      </p:pic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F27C1A0-2EEF-4A6A-8606-54D8B94BF130}"/>
              </a:ext>
            </a:extLst>
          </p:cNvPr>
          <p:cNvSpPr/>
          <p:nvPr/>
        </p:nvSpPr>
        <p:spPr>
          <a:xfrm rot="2819732">
            <a:off x="285660" y="1134512"/>
            <a:ext cx="1476619" cy="838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09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7B1E0DB-8831-43D1-BCB5-26A2F916112B}"/>
              </a:ext>
            </a:extLst>
          </p:cNvPr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rPr dirty="0"/>
              <a:t>INF-046 | ARMAZENAMENTO &amp; MOBILIDADE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71D07C-E26D-49D8-9559-E7BA0A7AE19C}"/>
              </a:ext>
            </a:extLst>
          </p:cNvPr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O que é a </a:t>
            </a:r>
            <a:r>
              <a:rPr dirty="0" err="1"/>
              <a:t>Nuvem</a:t>
            </a:r>
            <a:r>
              <a:rPr dirty="0"/>
              <a:t> e Como </a:t>
            </a:r>
            <a:r>
              <a:rPr dirty="0" err="1"/>
              <a:t>Acessar</a:t>
            </a:r>
            <a:r>
              <a:rPr dirty="0"/>
              <a:t> no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 a </a:t>
            </a:r>
            <a:r>
              <a:rPr dirty="0" err="1"/>
              <a:t>Dia</a:t>
            </a:r>
            <a:endParaRPr dirty="0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F27C1A0-2EEF-4A6A-8606-54D8B94BF130}"/>
              </a:ext>
            </a:extLst>
          </p:cNvPr>
          <p:cNvSpPr/>
          <p:nvPr/>
        </p:nvSpPr>
        <p:spPr>
          <a:xfrm rot="1522923">
            <a:off x="285660" y="1134512"/>
            <a:ext cx="1476619" cy="838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C2FE046-54F9-4AE8-94D7-CA104079E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4" y="1877183"/>
            <a:ext cx="8424011" cy="413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>
            <a:extLst>
              <a:ext uri="{FF2B5EF4-FFF2-40B4-BE49-F238E27FC236}">
                <a16:creationId xmlns:a16="http://schemas.microsoft.com/office/drawing/2014/main" id="{4623D080-2261-40B8-8279-CA3F1362EC61}"/>
              </a:ext>
            </a:extLst>
          </p:cNvPr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INF-046 | PRÁTICA GUIADA NO LABORATÓRIO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8FC2C152-78D8-4682-B92D-1FF154B97121}"/>
              </a:ext>
            </a:extLst>
          </p:cNvPr>
          <p:cNvSpPr txBox="1"/>
          <p:nvPr/>
        </p:nvSpPr>
        <p:spPr>
          <a:xfrm>
            <a:off x="731520" y="68580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 err="1"/>
              <a:t>Mão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Massa: </a:t>
            </a:r>
            <a:r>
              <a:rPr dirty="0" err="1"/>
              <a:t>Populando</a:t>
            </a:r>
            <a:r>
              <a:rPr dirty="0"/>
              <a:t> a </a:t>
            </a:r>
            <a:r>
              <a:rPr dirty="0" err="1"/>
              <a:t>Estrutura</a:t>
            </a:r>
            <a:endParaRPr dirty="0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08D60F99-756D-4D5F-880A-E50EE01C7E6D}"/>
              </a:ext>
            </a:extLst>
          </p:cNvPr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Organizando diferentes extensões de arquivos e preparando pacotes para envio por e-mail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34D299B8-4EB0-4B00-9A99-5F2BBB6A9397}"/>
              </a:ext>
            </a:extLst>
          </p:cNvPr>
          <p:cNvSpPr/>
          <p:nvPr/>
        </p:nvSpPr>
        <p:spPr>
          <a:xfrm>
            <a:off x="731520" y="1737360"/>
            <a:ext cx="53035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📂 1. Estrutura e Desafio de Extensões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Crie ou mova arquivos para cada pasta conforme a finalidade técnica: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6B6D4"/>
                </a:solidFill>
                <a:latin typeface="Consolas"/>
              </a:rPr>
              <a:t>INF-046_Polimeros/</a:t>
            </a:r>
            <a:r>
              <a:rPr sz="1100">
                <a:solidFill>
                  <a:srgbClr val="F8FAFC"/>
                </a:solidFill>
                <a:latin typeface="Calibri"/>
              </a:rPr>
              <a:t>Diretório raiz da disciplina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6B6D4"/>
                </a:solidFill>
                <a:latin typeface="Consolas"/>
              </a:rPr>
              <a:t>├── Aula_01_Informatica_Basica/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6B6D4"/>
                </a:solidFill>
                <a:latin typeface="Consolas"/>
              </a:rPr>
              <a:t>│   ├── Exercicios/  ➔ </a:t>
            </a:r>
            <a:r>
              <a:rPr sz="1100">
                <a:solidFill>
                  <a:srgbClr val="F8FAFC"/>
                </a:solidFill>
                <a:latin typeface="Calibri"/>
              </a:rPr>
              <a:t>Criar arquivo de texto (.docx / .odt)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6B6D4"/>
                </a:solidFill>
                <a:latin typeface="Consolas"/>
              </a:rPr>
              <a:t>│   └── Entregas/    ➔ </a:t>
            </a:r>
            <a:r>
              <a:rPr sz="1100">
                <a:solidFill>
                  <a:srgbClr val="F8FAFC"/>
                </a:solidFill>
                <a:latin typeface="Calibri"/>
              </a:rPr>
              <a:t>Arquivo final salvo (.pdf)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6B6D4"/>
                </a:solidFill>
                <a:latin typeface="Consolas"/>
              </a:rPr>
              <a:t>├── Materiais/       ➔ </a:t>
            </a:r>
            <a:r>
              <a:rPr sz="1100">
                <a:solidFill>
                  <a:srgbClr val="F8FAFC"/>
                </a:solidFill>
                <a:latin typeface="Calibri"/>
              </a:rPr>
              <a:t>Slides da aula e apostilas (.pdf)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6B6D4"/>
                </a:solidFill>
                <a:latin typeface="Consolas"/>
              </a:rPr>
              <a:t>└── Relatorios_Projetos/ ➔ </a:t>
            </a:r>
            <a:r>
              <a:rPr sz="1100">
                <a:solidFill>
                  <a:srgbClr val="F8FAFC"/>
                </a:solidFill>
                <a:latin typeface="Calibri"/>
              </a:rPr>
              <a:t>Planilhas de ensaios (.xlsx / .ods) e fotos de corpos de prova (.png / .jpg)</a:t>
            </a:r>
          </a:p>
          <a:p>
            <a:pPr>
              <a:spcBef>
                <a:spcPts val="800"/>
              </a:spcBef>
              <a:defRPr sz="1150" b="1">
                <a:solidFill>
                  <a:srgbClr val="14B8A6"/>
                </a:solidFill>
              </a:defRPr>
            </a:pPr>
            <a:r>
              <a:t>🎯 Objetivo: Reconhecer a extensão do arquivo pelo ícone e finalidade.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B9D70124-A583-406A-AB5B-AC12A9011E93}"/>
              </a:ext>
            </a:extLst>
          </p:cNvPr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600" b="1">
                <a:solidFill>
                  <a:srgbClr val="F59E0B"/>
                </a:solidFill>
                <a:latin typeface="Arial"/>
              </a:defRPr>
            </a:pPr>
            <a:r>
              <a:rPr dirty="0"/>
              <a:t>🗜️ 2. Como </a:t>
            </a:r>
            <a:r>
              <a:rPr dirty="0" err="1"/>
              <a:t>Compactar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.ZIP para </a:t>
            </a:r>
            <a:r>
              <a:rPr dirty="0" err="1"/>
              <a:t>Envio</a:t>
            </a:r>
            <a:r>
              <a:rPr lang="pt-BR" dirty="0"/>
              <a:t> (essa parte é feita na máquina local)</a:t>
            </a:r>
            <a:endParaRPr dirty="0"/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rPr dirty="0"/>
              <a:t>Por que </a:t>
            </a:r>
            <a:r>
              <a:rPr dirty="0" err="1"/>
              <a:t>compactar</a:t>
            </a:r>
            <a:r>
              <a:rPr dirty="0"/>
              <a:t>? </a:t>
            </a:r>
            <a:r>
              <a:rPr dirty="0" err="1"/>
              <a:t>Agrupa</a:t>
            </a:r>
            <a:r>
              <a:rPr dirty="0"/>
              <a:t> </a:t>
            </a:r>
            <a:r>
              <a:rPr dirty="0" err="1"/>
              <a:t>dezenas</a:t>
            </a:r>
            <a:r>
              <a:rPr dirty="0"/>
              <a:t> de pastas e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pacote</a:t>
            </a:r>
            <a:r>
              <a:rPr dirty="0"/>
              <a:t> </a:t>
            </a:r>
            <a:r>
              <a:rPr dirty="0" err="1"/>
              <a:t>leve</a:t>
            </a:r>
            <a:r>
              <a:rPr dirty="0"/>
              <a:t> para </a:t>
            </a:r>
            <a:r>
              <a:rPr dirty="0" err="1"/>
              <a:t>anexar</a:t>
            </a:r>
            <a:r>
              <a:rPr dirty="0"/>
              <a:t> no e-mail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perder</a:t>
            </a:r>
            <a:r>
              <a:rPr dirty="0"/>
              <a:t> a </a:t>
            </a:r>
            <a:r>
              <a:rPr dirty="0" err="1"/>
              <a:t>organização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</a:pPr>
            <a:r>
              <a:rPr sz="1200" b="1" dirty="0" err="1">
                <a:solidFill>
                  <a:srgbClr val="F8FAFC"/>
                </a:solidFill>
              </a:rPr>
              <a:t>Passo</a:t>
            </a:r>
            <a:r>
              <a:rPr sz="1200" b="1" dirty="0">
                <a:solidFill>
                  <a:srgbClr val="F8FAFC"/>
                </a:solidFill>
              </a:rPr>
              <a:t> 1 (</a:t>
            </a:r>
            <a:r>
              <a:rPr sz="1200" b="1" dirty="0" err="1">
                <a:solidFill>
                  <a:srgbClr val="F8FAFC"/>
                </a:solidFill>
              </a:rPr>
              <a:t>Selecionar</a:t>
            </a:r>
            <a:r>
              <a:rPr sz="1200" b="1" dirty="0">
                <a:solidFill>
                  <a:srgbClr val="F8FAFC"/>
                </a:solidFill>
              </a:rPr>
              <a:t>):</a:t>
            </a:r>
            <a:r>
              <a:rPr sz="1150" dirty="0">
                <a:solidFill>
                  <a:srgbClr val="94A3B8"/>
                </a:solidFill>
              </a:rPr>
              <a:t> Clique com o </a:t>
            </a:r>
            <a:r>
              <a:rPr sz="1150" dirty="0" err="1">
                <a:solidFill>
                  <a:srgbClr val="94A3B8"/>
                </a:solidFill>
              </a:rPr>
              <a:t>botão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direito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sobre</a:t>
            </a:r>
            <a:r>
              <a:rPr sz="1150" dirty="0">
                <a:solidFill>
                  <a:srgbClr val="94A3B8"/>
                </a:solidFill>
              </a:rPr>
              <a:t> a pasta 'INF-046_Polimeros' no Windows/Linux.</a:t>
            </a:r>
          </a:p>
          <a:p>
            <a:pPr>
              <a:spcBef>
                <a:spcPts val="600"/>
              </a:spcBef>
            </a:pPr>
            <a:r>
              <a:rPr sz="1200" b="1" dirty="0" err="1">
                <a:solidFill>
                  <a:srgbClr val="F8FAFC"/>
                </a:solidFill>
              </a:rPr>
              <a:t>Passo</a:t>
            </a:r>
            <a:r>
              <a:rPr sz="1200" b="1" dirty="0">
                <a:solidFill>
                  <a:srgbClr val="F8FAFC"/>
                </a:solidFill>
              </a:rPr>
              <a:t> 2 (</a:t>
            </a:r>
            <a:r>
              <a:rPr sz="1200" b="1" dirty="0" err="1">
                <a:solidFill>
                  <a:srgbClr val="F8FAFC"/>
                </a:solidFill>
              </a:rPr>
              <a:t>Compactar</a:t>
            </a:r>
            <a:r>
              <a:rPr sz="1200" b="1" dirty="0">
                <a:solidFill>
                  <a:srgbClr val="F8FAFC"/>
                </a:solidFill>
              </a:rPr>
              <a:t>):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Selecione</a:t>
            </a:r>
            <a:r>
              <a:rPr sz="1150" dirty="0">
                <a:solidFill>
                  <a:srgbClr val="94A3B8"/>
                </a:solidFill>
              </a:rPr>
              <a:t> '</a:t>
            </a:r>
            <a:r>
              <a:rPr sz="1150" dirty="0" err="1">
                <a:solidFill>
                  <a:srgbClr val="94A3B8"/>
                </a:solidFill>
              </a:rPr>
              <a:t>Enviar</a:t>
            </a:r>
            <a:r>
              <a:rPr sz="1150" dirty="0">
                <a:solidFill>
                  <a:srgbClr val="94A3B8"/>
                </a:solidFill>
              </a:rPr>
              <a:t> para' ➔ 'Pasta </a:t>
            </a:r>
            <a:r>
              <a:rPr sz="1150" dirty="0" err="1">
                <a:solidFill>
                  <a:srgbClr val="94A3B8"/>
                </a:solidFill>
              </a:rPr>
              <a:t>compactada</a:t>
            </a:r>
            <a:r>
              <a:rPr sz="1150" dirty="0">
                <a:solidFill>
                  <a:srgbClr val="94A3B8"/>
                </a:solidFill>
              </a:rPr>
              <a:t> (</a:t>
            </a:r>
            <a:r>
              <a:rPr sz="1150" dirty="0" err="1">
                <a:solidFill>
                  <a:srgbClr val="94A3B8"/>
                </a:solidFill>
              </a:rPr>
              <a:t>zipada</a:t>
            </a:r>
            <a:r>
              <a:rPr sz="1150" dirty="0">
                <a:solidFill>
                  <a:srgbClr val="94A3B8"/>
                </a:solidFill>
              </a:rPr>
              <a:t>)' (</a:t>
            </a:r>
            <a:r>
              <a:rPr sz="1150" dirty="0" err="1">
                <a:solidFill>
                  <a:srgbClr val="94A3B8"/>
                </a:solidFill>
              </a:rPr>
              <a:t>ou</a:t>
            </a:r>
            <a:r>
              <a:rPr sz="1150" dirty="0">
                <a:solidFill>
                  <a:srgbClr val="94A3B8"/>
                </a:solidFill>
              </a:rPr>
              <a:t> '</a:t>
            </a:r>
            <a:r>
              <a:rPr sz="1150" dirty="0" err="1">
                <a:solidFill>
                  <a:srgbClr val="94A3B8"/>
                </a:solidFill>
              </a:rPr>
              <a:t>Compactar</a:t>
            </a:r>
            <a:r>
              <a:rPr sz="1150" dirty="0">
                <a:solidFill>
                  <a:srgbClr val="94A3B8"/>
                </a:solidFill>
              </a:rPr>
              <a:t> para </a:t>
            </a:r>
            <a:r>
              <a:rPr sz="1150" dirty="0" err="1">
                <a:solidFill>
                  <a:srgbClr val="94A3B8"/>
                </a:solidFill>
              </a:rPr>
              <a:t>arquivo</a:t>
            </a:r>
            <a:r>
              <a:rPr sz="1150" dirty="0">
                <a:solidFill>
                  <a:srgbClr val="94A3B8"/>
                </a:solidFill>
              </a:rPr>
              <a:t> ZIP').</a:t>
            </a:r>
          </a:p>
          <a:p>
            <a:pPr>
              <a:spcBef>
                <a:spcPts val="600"/>
              </a:spcBef>
            </a:pPr>
            <a:r>
              <a:rPr sz="1200" b="1" dirty="0" err="1">
                <a:solidFill>
                  <a:srgbClr val="F8FAFC"/>
                </a:solidFill>
              </a:rPr>
              <a:t>Passo</a:t>
            </a:r>
            <a:r>
              <a:rPr sz="1200" b="1" dirty="0">
                <a:solidFill>
                  <a:srgbClr val="F8FAFC"/>
                </a:solidFill>
              </a:rPr>
              <a:t> 3 (</a:t>
            </a:r>
            <a:r>
              <a:rPr sz="1200" b="1" dirty="0" err="1">
                <a:solidFill>
                  <a:srgbClr val="F8FAFC"/>
                </a:solidFill>
              </a:rPr>
              <a:t>Renomear</a:t>
            </a:r>
            <a:r>
              <a:rPr sz="1200" b="1" dirty="0">
                <a:solidFill>
                  <a:srgbClr val="F8FAFC"/>
                </a:solidFill>
              </a:rPr>
              <a:t>):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Nomeie</a:t>
            </a:r>
            <a:r>
              <a:rPr sz="1150" dirty="0">
                <a:solidFill>
                  <a:srgbClr val="94A3B8"/>
                </a:solidFill>
              </a:rPr>
              <a:t> o </a:t>
            </a:r>
            <a:r>
              <a:rPr sz="1150" dirty="0" err="1">
                <a:solidFill>
                  <a:srgbClr val="94A3B8"/>
                </a:solidFill>
              </a:rPr>
              <a:t>arquivo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gerado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como</a:t>
            </a:r>
            <a:r>
              <a:rPr sz="1150" dirty="0">
                <a:solidFill>
                  <a:srgbClr val="94A3B8"/>
                </a:solidFill>
              </a:rPr>
              <a:t> 'INF-046_Aula01_Nome_Sobrenome.zip'.</a:t>
            </a:r>
          </a:p>
          <a:p>
            <a:pPr>
              <a:spcBef>
                <a:spcPts val="600"/>
              </a:spcBef>
            </a:pPr>
            <a:r>
              <a:rPr sz="1200" b="1" dirty="0" err="1">
                <a:solidFill>
                  <a:srgbClr val="10B981"/>
                </a:solidFill>
              </a:rPr>
              <a:t>Passo</a:t>
            </a:r>
            <a:r>
              <a:rPr sz="1200" b="1" dirty="0">
                <a:solidFill>
                  <a:srgbClr val="10B981"/>
                </a:solidFill>
              </a:rPr>
              <a:t> 4 (</a:t>
            </a:r>
            <a:r>
              <a:rPr sz="1200" b="1" dirty="0" err="1">
                <a:solidFill>
                  <a:srgbClr val="10B981"/>
                </a:solidFill>
              </a:rPr>
              <a:t>Anexar</a:t>
            </a:r>
            <a:r>
              <a:rPr sz="1200" b="1" dirty="0">
                <a:solidFill>
                  <a:srgbClr val="10B981"/>
                </a:solidFill>
              </a:rPr>
              <a:t> no E-mail):</a:t>
            </a:r>
            <a:r>
              <a:rPr sz="1150" dirty="0">
                <a:solidFill>
                  <a:srgbClr val="94A3B8"/>
                </a:solidFill>
              </a:rPr>
              <a:t> </a:t>
            </a:r>
            <a:r>
              <a:rPr sz="1150" dirty="0" err="1">
                <a:solidFill>
                  <a:srgbClr val="94A3B8"/>
                </a:solidFill>
              </a:rPr>
              <a:t>Abra</a:t>
            </a:r>
            <a:r>
              <a:rPr sz="1150" dirty="0">
                <a:solidFill>
                  <a:srgbClr val="94A3B8"/>
                </a:solidFill>
              </a:rPr>
              <a:t> o e-mail </a:t>
            </a:r>
            <a:r>
              <a:rPr sz="1150" dirty="0" err="1">
                <a:solidFill>
                  <a:srgbClr val="94A3B8"/>
                </a:solidFill>
              </a:rPr>
              <a:t>institucional</a:t>
            </a:r>
            <a:r>
              <a:rPr sz="1150" dirty="0">
                <a:solidFill>
                  <a:srgbClr val="94A3B8"/>
                </a:solidFill>
              </a:rPr>
              <a:t> &gt; Novo E-mail &gt; </a:t>
            </a:r>
            <a:r>
              <a:rPr sz="1150" dirty="0" err="1">
                <a:solidFill>
                  <a:srgbClr val="94A3B8"/>
                </a:solidFill>
              </a:rPr>
              <a:t>Anexar</a:t>
            </a:r>
            <a:r>
              <a:rPr sz="1150" dirty="0">
                <a:solidFill>
                  <a:srgbClr val="94A3B8"/>
                </a:solidFill>
              </a:rPr>
              <a:t> o </a:t>
            </a:r>
            <a:r>
              <a:rPr sz="1150" dirty="0" err="1">
                <a:solidFill>
                  <a:srgbClr val="94A3B8"/>
                </a:solidFill>
              </a:rPr>
              <a:t>arquivo</a:t>
            </a:r>
            <a:r>
              <a:rPr sz="1150" dirty="0">
                <a:solidFill>
                  <a:srgbClr val="94A3B8"/>
                </a:solidFill>
              </a:rPr>
              <a:t> .zip </a:t>
            </a:r>
            <a:r>
              <a:rPr sz="1150" dirty="0" err="1">
                <a:solidFill>
                  <a:srgbClr val="94A3B8"/>
                </a:solidFill>
              </a:rPr>
              <a:t>único</a:t>
            </a:r>
            <a:r>
              <a:rPr sz="1150" dirty="0">
                <a:solidFill>
                  <a:srgbClr val="94A3B8"/>
                </a:solidFill>
              </a:rPr>
              <a:t> &gt; </a:t>
            </a:r>
            <a:r>
              <a:rPr sz="1150" dirty="0" err="1">
                <a:solidFill>
                  <a:srgbClr val="94A3B8"/>
                </a:solidFill>
              </a:rPr>
              <a:t>Enviar</a:t>
            </a:r>
            <a:r>
              <a:rPr sz="1150" dirty="0">
                <a:solidFill>
                  <a:srgbClr val="94A3B8"/>
                </a:solidFill>
              </a:rPr>
              <a:t> para a </a:t>
            </a:r>
            <a:r>
              <a:rPr sz="1150" dirty="0" err="1">
                <a:solidFill>
                  <a:srgbClr val="94A3B8"/>
                </a:solidFill>
              </a:rPr>
              <a:t>docente</a:t>
            </a:r>
            <a:r>
              <a:rPr sz="1150" dirty="0">
                <a:solidFill>
                  <a:srgbClr val="94A3B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222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45500F4A-9381-4BDA-97AA-A36C2D6C7C63}"/>
              </a:ext>
            </a:extLst>
          </p:cNvPr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INF-046 | FUNDAMENTOS DE NUVEM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F815D8B-5603-417A-A317-51421E06428F}"/>
              </a:ext>
            </a:extLst>
          </p:cNvPr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Compartilhamento em Nuvem: Envio Estático vs. Acesso Vivo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4EA7435-E3A4-40FB-8060-B05BE10E12EA}"/>
              </a:ext>
            </a:extLst>
          </p:cNvPr>
          <p:cNvSpPr txBox="1"/>
          <p:nvPr/>
        </p:nvSpPr>
        <p:spPr>
          <a:xfrm>
            <a:off x="731520" y="1234440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/>
              <a:t>Por que </a:t>
            </a:r>
            <a:r>
              <a:rPr dirty="0" err="1"/>
              <a:t>compartilhar</a:t>
            </a:r>
            <a:r>
              <a:rPr dirty="0"/>
              <a:t> pastas no Google Drive </a:t>
            </a:r>
            <a:r>
              <a:rPr dirty="0" err="1"/>
              <a:t>transforma</a:t>
            </a:r>
            <a:r>
              <a:rPr dirty="0"/>
              <a:t> a </a:t>
            </a:r>
            <a:r>
              <a:rPr dirty="0" err="1"/>
              <a:t>colaboração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projetos</a:t>
            </a:r>
            <a:endParaRPr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AE543A4B-9C86-4ABC-9D81-D1D4F627BA1F}"/>
              </a:ext>
            </a:extLst>
          </p:cNvPr>
          <p:cNvSpPr/>
          <p:nvPr/>
        </p:nvSpPr>
        <p:spPr>
          <a:xfrm>
            <a:off x="731520" y="1691639"/>
            <a:ext cx="5303520" cy="492823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📦 1. Arquivo Compactado (.ZIP / Anexo)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Cópia estática no tempo: o receptor vê apenas a versão congelada no momento do envio.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Risco de duplicidade: 'relatorio_final_v2.zip', 'v3_corrigido.zip' gerando confusão.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Ideal para: entregas formais definitivas e arquivamento permanente de laudos.</a:t>
            </a:r>
          </a:p>
          <a:p>
            <a:br>
              <a:rPr sz="2000"/>
            </a:br>
            <a:r>
              <a:rPr sz="2000"/>
              <a:t>☁️ 2. Pasta Compartilhada (Google Drive)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Repositório dinâmico e vivo: qualquer novo arquivo ou alteração fica disponível na hora.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Única fonte da verdade: toda a equipe ou docente acessa o mesmo link.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Rastreabilidade total: histórico de versões automático e controle de quem editou o quê.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rPr sz="1400"/>
              <a:t>• Ideal para: trabalhos em grupo, acompanhamento de ensaios e pastas de entrega contínua.</a:t>
            </a:r>
          </a:p>
        </p:txBody>
      </p:sp>
      <p:pic>
        <p:nvPicPr>
          <p:cNvPr id="11" name="Picture 5" descr="computacao_nuvem_drive_acesso.png">
            <a:extLst>
              <a:ext uri="{FF2B5EF4-FFF2-40B4-BE49-F238E27FC236}">
                <a16:creationId xmlns:a16="http://schemas.microsoft.com/office/drawing/2014/main" id="{65B5C8FC-B1F2-49DA-BBBA-797F4872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212080" cy="2926080"/>
          </a:xfrm>
          <a:prstGeom prst="rect">
            <a:avLst/>
          </a:prstGeom>
        </p:spPr>
      </p:pic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C150491B-BF05-4736-A069-BCF90CBC3E2A}"/>
              </a:ext>
            </a:extLst>
          </p:cNvPr>
          <p:cNvSpPr/>
          <p:nvPr/>
        </p:nvSpPr>
        <p:spPr>
          <a:xfrm>
            <a:off x="6217920" y="4754880"/>
            <a:ext cx="52120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dirty="0"/>
              <a:t>💡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Disciplina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de </a:t>
            </a:r>
            <a:r>
              <a:rPr dirty="0" err="1"/>
              <a:t>reenviar</a:t>
            </a:r>
            <a:r>
              <a:rPr dirty="0"/>
              <a:t> um e-mail a </a:t>
            </a:r>
            <a:r>
              <a:rPr dirty="0" err="1"/>
              <a:t>cada</a:t>
            </a:r>
            <a:r>
              <a:rPr dirty="0"/>
              <a:t> aula,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cria</a:t>
            </a:r>
            <a:r>
              <a:rPr dirty="0"/>
              <a:t> e </a:t>
            </a:r>
            <a:r>
              <a:rPr dirty="0" err="1"/>
              <a:t>compartilha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pasta 'INF-046_Polimeros/</a:t>
            </a:r>
            <a:r>
              <a:rPr dirty="0" err="1"/>
              <a:t>Entregas</a:t>
            </a:r>
            <a:r>
              <a:rPr dirty="0"/>
              <a:t>'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com a </a:t>
            </a:r>
            <a:r>
              <a:rPr dirty="0" err="1"/>
              <a:t>professora</a:t>
            </a:r>
            <a:r>
              <a:rPr dirty="0"/>
              <a:t>. </a:t>
            </a:r>
            <a:r>
              <a:rPr dirty="0" err="1"/>
              <a:t>Tudo</a:t>
            </a:r>
            <a:r>
              <a:rPr dirty="0"/>
              <a:t> o que </a:t>
            </a:r>
            <a:r>
              <a:rPr dirty="0" err="1"/>
              <a:t>salvar</a:t>
            </a:r>
            <a:r>
              <a:rPr dirty="0"/>
              <a:t> </a:t>
            </a:r>
            <a:r>
              <a:rPr dirty="0" err="1"/>
              <a:t>lá</a:t>
            </a:r>
            <a:r>
              <a:rPr dirty="0"/>
              <a:t> dentro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estará</a:t>
            </a:r>
            <a:r>
              <a:rPr dirty="0"/>
              <a:t> </a:t>
            </a:r>
            <a:r>
              <a:rPr dirty="0" err="1"/>
              <a:t>entregue</a:t>
            </a:r>
            <a:r>
              <a:rPr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4725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>
            <a:extLst>
              <a:ext uri="{FF2B5EF4-FFF2-40B4-BE49-F238E27FC236}">
                <a16:creationId xmlns:a16="http://schemas.microsoft.com/office/drawing/2014/main" id="{9869CD63-52E2-4C3C-9A0B-8EC00685D57D}"/>
              </a:ext>
            </a:extLst>
          </p:cNvPr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PRÁTICA GUIADA | PASSO A PASSO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A1743C8-DF91-4D31-BA9A-6004F6AAB439}"/>
              </a:ext>
            </a:extLst>
          </p:cNvPr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Como Compartilhar uma Pasta no Google Drive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76FDF1E5-32E0-4EED-B037-260E7EBEDA59}"/>
              </a:ext>
            </a:extLst>
          </p:cNvPr>
          <p:cNvSpPr/>
          <p:nvPr/>
        </p:nvSpPr>
        <p:spPr>
          <a:xfrm>
            <a:off x="325755" y="1280160"/>
            <a:ext cx="5282566" cy="504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400"/>
              </a:spcAft>
              <a:defRPr sz="1300" b="1">
                <a:solidFill>
                  <a:srgbClr val="FBBF24"/>
                </a:solidFill>
              </a:defRPr>
            </a:pPr>
            <a:r>
              <a:rPr sz="1400"/>
              <a:t>ROTEIRO PRÁTICO (PASSO A PASSO)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400"/>
              <a:t>• 1. Posicione o cursor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rPr sz="1400"/>
              <a:t>   Passe a seta do mouse sobre a pasta que deseja enviar (ex: Aula_01_Informatica_Basica).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400"/>
              <a:t>• 2. Clique com o BOTÃO DIREITO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rPr sz="1400"/>
              <a:t>   O botão direito abre o Menu de Contexto (ações disponíveis para aquele item).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400"/>
              <a:t>• 3. Selecione 'Compartilhar'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rPr sz="1400"/>
              <a:t>   Clique na opção com o ícone de pessoas (👥) 'Compartilhar' &gt; 'Compartilhar'.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400"/>
              <a:t>• Dica de Atalho: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</a:defRPr>
            </a:pPr>
            <a:r>
              <a:rPr sz="1400"/>
              <a:t>   Você também pode selecionar a pasta com um clique normal e apertar o botão Compartilhar no topo da tela.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47BA7E3-75C2-4A6F-A2D7-1A668A357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979295"/>
            <a:ext cx="5598016" cy="32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66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>
            <a:extLst>
              <a:ext uri="{FF2B5EF4-FFF2-40B4-BE49-F238E27FC236}">
                <a16:creationId xmlns:a16="http://schemas.microsoft.com/office/drawing/2014/main" id="{9869CD63-52E2-4C3C-9A0B-8EC00685D57D}"/>
              </a:ext>
            </a:extLst>
          </p:cNvPr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PRÁTICA GUIADA | PASSO A PASSO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A1743C8-DF91-4D31-BA9A-6004F6AAB439}"/>
              </a:ext>
            </a:extLst>
          </p:cNvPr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Como Compartilhar uma Pasta no Google Drive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7FF0E1-6D8A-4061-979F-AB2366156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37" y="1623619"/>
            <a:ext cx="6027657" cy="4434281"/>
          </a:xfrm>
          <a:prstGeom prst="rect">
            <a:avLst/>
          </a:prstGeom>
        </p:spPr>
      </p:pic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7CEAB50D-CDD6-4E00-BD05-D08203A908CE}"/>
              </a:ext>
            </a:extLst>
          </p:cNvPr>
          <p:cNvSpPr/>
          <p:nvPr/>
        </p:nvSpPr>
        <p:spPr>
          <a:xfrm>
            <a:off x="842962" y="1529715"/>
            <a:ext cx="42062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300" b="1">
                <a:solidFill>
                  <a:srgbClr val="34D399"/>
                </a:solidFill>
              </a:defRPr>
            </a:pPr>
            <a:r>
              <a:rPr sz="1400"/>
              <a:t>QUAL NÍVEL ESCOLHER?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600"/>
              <a:t>👁️ LEITOR (Viewer)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</a:defRPr>
            </a:pPr>
            <a:r>
              <a:rPr sz="1400"/>
              <a:t>A pessoa pode apenas visualizar e baixar os arquivos. NÃO pode apagar ou alterar nada.</a:t>
            </a:r>
            <a:br>
              <a:rPr sz="1400"/>
            </a:br>
            <a:r>
              <a:rPr sz="1400"/>
              <a:t>→ USO: Entrega final de relatórios para avaliação.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600"/>
              <a:t>💬 COMENTADOR (Commenter)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</a:defRPr>
            </a:pPr>
            <a:r>
              <a:rPr sz="1400"/>
              <a:t>Pode visualizar e inserir comentários/balões de correção na lateral do documento.</a:t>
            </a:r>
            <a:br>
              <a:rPr sz="1400"/>
            </a:br>
            <a:r>
              <a:rPr sz="1400"/>
              <a:t>→ USO: Revisão de pré-projetos e TCC.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rPr sz="1600"/>
              <a:t>✏️ EDITOR (Editor)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</a:defRPr>
            </a:pPr>
            <a:r>
              <a:rPr sz="1400"/>
              <a:t>Pode criar, modificar, mover e excluir arquivos na pasta.</a:t>
            </a:r>
            <a:br>
              <a:rPr sz="1400"/>
            </a:br>
            <a:r>
              <a:rPr sz="1400"/>
              <a:t>→ USO: Trabalho em dupla no laboratório.</a:t>
            </a:r>
          </a:p>
          <a:p>
            <a:pPr>
              <a:defRPr sz="900">
                <a:solidFill>
                  <a:srgbClr val="FBBF24"/>
                </a:solidFill>
              </a:defRPr>
            </a:pPr>
            <a:r>
              <a:rPr sz="1400"/>
              <a:t>⚠️ ATENÇÃO: Nunca deixe pastas com permissão pública de Editor para evitar perdas acidentais de dados de ensaios.</a:t>
            </a:r>
          </a:p>
        </p:txBody>
      </p:sp>
    </p:spTree>
    <p:extLst>
      <p:ext uri="{BB962C8B-B14F-4D97-AF65-F5344CB8AC3E}">
        <p14:creationId xmlns:p14="http://schemas.microsoft.com/office/powerpoint/2010/main" val="591452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MÓDULO 06 • COMUNICAÇÃO &amp; SEGURANÇA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E-mail Institucional e Segurança Digital em 60 Segundos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A postura digital ética e profissional indispensável na vida acadêmica e na indústria.</a:t>
            </a:r>
          </a:p>
        </p:txBody>
      </p:sp>
      <p:pic>
        <p:nvPicPr>
          <p:cNvPr id="3" name="Picture 2" descr="seguranca_digital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38912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4960" y="1645920"/>
            <a:ext cx="60350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rPr sz="1600" dirty="0"/>
              <a:t>✉️ </a:t>
            </a:r>
            <a:r>
              <a:rPr sz="1600" dirty="0" err="1"/>
              <a:t>Protocolo</a:t>
            </a:r>
            <a:r>
              <a:rPr sz="1600" dirty="0"/>
              <a:t> de E-mail </a:t>
            </a:r>
            <a:r>
              <a:rPr sz="1600" dirty="0" err="1"/>
              <a:t>Profissional</a:t>
            </a:r>
            <a:r>
              <a:rPr sz="1600" dirty="0"/>
              <a:t>: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Destinatário</a:t>
            </a:r>
            <a:r>
              <a:rPr sz="1600" dirty="0"/>
              <a:t>: </a:t>
            </a:r>
            <a:r>
              <a:rPr sz="1600" dirty="0" err="1"/>
              <a:t>conferir</a:t>
            </a:r>
            <a:r>
              <a:rPr sz="1600" dirty="0"/>
              <a:t> o e-mail </a:t>
            </a:r>
            <a:r>
              <a:rPr sz="1600" dirty="0" err="1"/>
              <a:t>institucional</a:t>
            </a:r>
            <a:r>
              <a:rPr sz="1600" dirty="0"/>
              <a:t> </a:t>
            </a:r>
            <a:r>
              <a:rPr sz="1600" dirty="0" err="1"/>
              <a:t>exato</a:t>
            </a:r>
            <a:r>
              <a:rPr sz="1600" dirty="0"/>
              <a:t> do professor.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Assunto</a:t>
            </a:r>
            <a:r>
              <a:rPr sz="1600" dirty="0"/>
              <a:t> </a:t>
            </a:r>
            <a:r>
              <a:rPr sz="1600" dirty="0" err="1"/>
              <a:t>Padronizado</a:t>
            </a:r>
            <a:r>
              <a:rPr sz="1600" dirty="0"/>
              <a:t>: [INF-046] - Aula 02 - Nome </a:t>
            </a:r>
            <a:r>
              <a:rPr sz="1600" dirty="0" err="1"/>
              <a:t>Sobrenome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Mensagem</a:t>
            </a:r>
            <a:r>
              <a:rPr sz="1600" dirty="0"/>
              <a:t> </a:t>
            </a:r>
            <a:r>
              <a:rPr sz="1600" dirty="0" err="1"/>
              <a:t>Objetiva</a:t>
            </a:r>
            <a:r>
              <a:rPr lang="pt-BR" sz="1600" dirty="0"/>
              <a:t>;</a:t>
            </a:r>
            <a:br>
              <a:rPr sz="1600" dirty="0"/>
            </a:br>
            <a:r>
              <a:rPr sz="1600" dirty="0"/>
              <a:t>• Anexo: SEMPRE </a:t>
            </a:r>
            <a:r>
              <a:rPr sz="1600" dirty="0" err="1"/>
              <a:t>anexar</a:t>
            </a:r>
            <a:r>
              <a:rPr sz="1600" dirty="0"/>
              <a:t> e </a:t>
            </a:r>
            <a:r>
              <a:rPr sz="1600" dirty="0" err="1"/>
              <a:t>verificar</a:t>
            </a:r>
            <a:r>
              <a:rPr sz="1600" dirty="0"/>
              <a:t> antes de </a:t>
            </a:r>
            <a:r>
              <a:rPr sz="1600" dirty="0" err="1"/>
              <a:t>clicar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</a:t>
            </a:r>
            <a:r>
              <a:rPr sz="1600" dirty="0" err="1"/>
              <a:t>enviar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rPr dirty="0"/>
              <a:t>🛡️ Checklist de </a:t>
            </a:r>
            <a:r>
              <a:rPr dirty="0" err="1"/>
              <a:t>Segurança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60 </a:t>
            </a:r>
            <a:r>
              <a:rPr dirty="0" err="1"/>
              <a:t>Segundos</a:t>
            </a:r>
            <a:r>
              <a:rPr dirty="0"/>
              <a:t>: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1600" dirty="0">
                <a:solidFill>
                  <a:schemeClr val="bg2"/>
                </a:solidFill>
              </a:rPr>
              <a:t>🔒 </a:t>
            </a:r>
            <a:r>
              <a:rPr sz="1600" dirty="0" err="1">
                <a:solidFill>
                  <a:schemeClr val="bg2"/>
                </a:solidFill>
              </a:rPr>
              <a:t>Nunca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compartilhe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suas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senhas</a:t>
            </a:r>
            <a:r>
              <a:rPr sz="1600" dirty="0">
                <a:solidFill>
                  <a:schemeClr val="bg2"/>
                </a:solidFill>
              </a:rPr>
              <a:t> de rede </a:t>
            </a:r>
            <a:r>
              <a:rPr sz="1600" dirty="0" err="1">
                <a:solidFill>
                  <a:schemeClr val="bg2"/>
                </a:solidFill>
              </a:rPr>
              <a:t>ou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laboratório</a:t>
            </a:r>
            <a:r>
              <a:rPr sz="1600" dirty="0">
                <a:solidFill>
                  <a:schemeClr val="bg2"/>
                </a:solidFill>
              </a:rPr>
              <a:t>.</a:t>
            </a:r>
            <a:br>
              <a:rPr sz="1600" dirty="0">
                <a:solidFill>
                  <a:schemeClr val="bg2"/>
                </a:solidFill>
              </a:rPr>
            </a:br>
            <a:r>
              <a:rPr sz="1600" dirty="0">
                <a:solidFill>
                  <a:schemeClr val="bg2"/>
                </a:solidFill>
              </a:rPr>
              <a:t>⚠️ </a:t>
            </a:r>
            <a:r>
              <a:rPr sz="1600" dirty="0" err="1">
                <a:solidFill>
                  <a:schemeClr val="bg2"/>
                </a:solidFill>
              </a:rPr>
              <a:t>Desconfie</a:t>
            </a:r>
            <a:r>
              <a:rPr sz="1600" dirty="0">
                <a:solidFill>
                  <a:schemeClr val="bg2"/>
                </a:solidFill>
              </a:rPr>
              <a:t> de links </a:t>
            </a:r>
            <a:r>
              <a:rPr sz="1600" dirty="0" err="1">
                <a:solidFill>
                  <a:schemeClr val="bg2"/>
                </a:solidFill>
              </a:rPr>
              <a:t>suspeitos</a:t>
            </a:r>
            <a:r>
              <a:rPr sz="1600" dirty="0">
                <a:solidFill>
                  <a:schemeClr val="bg2"/>
                </a:solidFill>
              </a:rPr>
              <a:t> e </a:t>
            </a:r>
            <a:r>
              <a:rPr sz="1600" dirty="0" err="1">
                <a:solidFill>
                  <a:schemeClr val="bg2"/>
                </a:solidFill>
              </a:rPr>
              <a:t>anexos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não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solicitados</a:t>
            </a:r>
            <a:r>
              <a:rPr sz="1600" dirty="0">
                <a:solidFill>
                  <a:schemeClr val="bg2"/>
                </a:solidFill>
              </a:rPr>
              <a:t>.</a:t>
            </a:r>
            <a:br>
              <a:rPr sz="1600" dirty="0">
                <a:solidFill>
                  <a:schemeClr val="bg2"/>
                </a:solidFill>
              </a:rPr>
            </a:br>
            <a:r>
              <a:rPr sz="1600" dirty="0">
                <a:solidFill>
                  <a:schemeClr val="bg2"/>
                </a:solidFill>
              </a:rPr>
              <a:t>🧪 </a:t>
            </a:r>
            <a:r>
              <a:rPr sz="1600" dirty="0" err="1">
                <a:solidFill>
                  <a:schemeClr val="bg2"/>
                </a:solidFill>
              </a:rPr>
              <a:t>Proteja</a:t>
            </a:r>
            <a:r>
              <a:rPr sz="1600" dirty="0">
                <a:solidFill>
                  <a:schemeClr val="bg2"/>
                </a:solidFill>
              </a:rPr>
              <a:t> dados </a:t>
            </a:r>
            <a:r>
              <a:rPr sz="1600" dirty="0" err="1">
                <a:solidFill>
                  <a:schemeClr val="bg2"/>
                </a:solidFill>
              </a:rPr>
              <a:t>experimentais</a:t>
            </a:r>
            <a:r>
              <a:rPr sz="1600" dirty="0">
                <a:solidFill>
                  <a:schemeClr val="bg2"/>
                </a:solidFill>
              </a:rPr>
              <a:t> e </a:t>
            </a:r>
            <a:r>
              <a:rPr sz="1600" dirty="0" err="1">
                <a:solidFill>
                  <a:schemeClr val="bg2"/>
                </a:solidFill>
              </a:rPr>
              <a:t>relatórios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técnicos</a:t>
            </a:r>
            <a:r>
              <a:rPr sz="1600" dirty="0">
                <a:solidFill>
                  <a:schemeClr val="bg2"/>
                </a:solidFill>
              </a:rPr>
              <a:t> </a:t>
            </a:r>
            <a:r>
              <a:rPr sz="1600" dirty="0" err="1">
                <a:solidFill>
                  <a:schemeClr val="bg2"/>
                </a:solidFill>
              </a:rPr>
              <a:t>sigilosos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MÓDULO 07 • FECHAMENTO &amp; VALIDAÇÃO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Missão Prática da Aula: O que Você Conquistou Hoje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Critério de sucesso: conseguir repetir o ciclo completo de forma independente.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45083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6B6D4"/>
                </a:solidFill>
                <a:latin typeface="Arial"/>
              </a:defRPr>
            </a:pPr>
            <a:r>
              <a:rPr dirty="0"/>
              <a:t>📋 Checklist de </a:t>
            </a:r>
            <a:r>
              <a:rPr dirty="0" err="1"/>
              <a:t>Entregas</a:t>
            </a:r>
            <a:r>
              <a:rPr dirty="0"/>
              <a:t> da Aula:</a:t>
            </a:r>
          </a:p>
          <a:p>
            <a:pPr>
              <a:defRPr sz="1200">
                <a:solidFill>
                  <a:srgbClr val="F8FAFC"/>
                </a:solidFill>
                <a:latin typeface="Calibri"/>
              </a:defRPr>
            </a:pPr>
            <a:r>
              <a:rPr sz="1600" dirty="0"/>
              <a:t>✅ </a:t>
            </a:r>
            <a:r>
              <a:rPr sz="1600" dirty="0" err="1"/>
              <a:t>Estrutura</a:t>
            </a:r>
            <a:r>
              <a:rPr sz="1600" dirty="0"/>
              <a:t> de pastas 'INF-046_Polimeros' </a:t>
            </a:r>
            <a:r>
              <a:rPr sz="1600" dirty="0" err="1"/>
              <a:t>criada</a:t>
            </a:r>
            <a:br>
              <a:rPr sz="1600" dirty="0"/>
            </a:br>
            <a:br>
              <a:rPr sz="1600" dirty="0"/>
            </a:br>
            <a:r>
              <a:rPr sz="1600" dirty="0"/>
              <a:t>✅ </a:t>
            </a:r>
            <a:r>
              <a:rPr sz="1600" dirty="0" err="1"/>
              <a:t>Arquivo</a:t>
            </a:r>
            <a:r>
              <a:rPr sz="1600" dirty="0"/>
              <a:t> de </a:t>
            </a:r>
            <a:r>
              <a:rPr sz="1600" dirty="0" err="1"/>
              <a:t>texto</a:t>
            </a:r>
            <a:r>
              <a:rPr sz="1600" dirty="0"/>
              <a:t> </a:t>
            </a:r>
            <a:r>
              <a:rPr sz="1600" dirty="0" err="1"/>
              <a:t>digitado</a:t>
            </a:r>
            <a:r>
              <a:rPr sz="1600" dirty="0"/>
              <a:t> com </a:t>
            </a:r>
            <a:r>
              <a:rPr sz="1600" dirty="0" err="1"/>
              <a:t>formatação</a:t>
            </a:r>
            <a:r>
              <a:rPr sz="1600" dirty="0"/>
              <a:t> e </a:t>
            </a:r>
            <a:r>
              <a:rPr sz="1600" dirty="0" err="1"/>
              <a:t>acentos</a:t>
            </a:r>
            <a:r>
              <a:rPr sz="1600" dirty="0"/>
              <a:t> </a:t>
            </a:r>
            <a:r>
              <a:rPr sz="1600" dirty="0" err="1"/>
              <a:t>corretos</a:t>
            </a:r>
            <a:br>
              <a:rPr sz="1600" dirty="0"/>
            </a:br>
            <a:br>
              <a:rPr sz="1600" dirty="0"/>
            </a:br>
            <a:r>
              <a:rPr sz="1600" dirty="0"/>
              <a:t>✅ </a:t>
            </a:r>
            <a:r>
              <a:rPr sz="1600" dirty="0" err="1"/>
              <a:t>Versão</a:t>
            </a:r>
            <a:r>
              <a:rPr sz="1600" dirty="0"/>
              <a:t> </a:t>
            </a:r>
            <a:r>
              <a:rPr sz="1600" dirty="0" err="1"/>
              <a:t>inicial</a:t>
            </a:r>
            <a:r>
              <a:rPr sz="1600" dirty="0"/>
              <a:t> </a:t>
            </a:r>
            <a:r>
              <a:rPr sz="1600" dirty="0" err="1"/>
              <a:t>salva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'</a:t>
            </a:r>
            <a:r>
              <a:rPr sz="1600" dirty="0" err="1"/>
              <a:t>Entregas</a:t>
            </a:r>
            <a:r>
              <a:rPr sz="1600" dirty="0"/>
              <a:t>' com </a:t>
            </a:r>
            <a:r>
              <a:rPr sz="1600" dirty="0" err="1"/>
              <a:t>nome</a:t>
            </a:r>
            <a:r>
              <a:rPr sz="1600" dirty="0"/>
              <a:t> </a:t>
            </a:r>
            <a:r>
              <a:rPr sz="1600" dirty="0" err="1"/>
              <a:t>padronizado</a:t>
            </a:r>
            <a:br>
              <a:rPr sz="1600" dirty="0"/>
            </a:br>
            <a:br>
              <a:rPr sz="1600" dirty="0"/>
            </a:br>
            <a:r>
              <a:rPr sz="1600" dirty="0"/>
              <a:t>✅ Segunda </a:t>
            </a:r>
            <a:r>
              <a:rPr sz="1600" dirty="0" err="1"/>
              <a:t>versão</a:t>
            </a:r>
            <a:r>
              <a:rPr sz="1600" dirty="0"/>
              <a:t> </a:t>
            </a:r>
            <a:r>
              <a:rPr sz="1600" dirty="0" err="1"/>
              <a:t>versionada</a:t>
            </a:r>
            <a:r>
              <a:rPr sz="1600" dirty="0"/>
              <a:t> (_v2) </a:t>
            </a:r>
            <a:r>
              <a:rPr sz="1600" dirty="0" err="1"/>
              <a:t>identificada</a:t>
            </a:r>
            <a:br>
              <a:rPr sz="1600" dirty="0"/>
            </a:br>
            <a:br>
              <a:rPr sz="1600" dirty="0"/>
            </a:br>
            <a:r>
              <a:rPr sz="1600" dirty="0"/>
              <a:t>✅ E-mail </a:t>
            </a:r>
            <a:r>
              <a:rPr sz="1600" dirty="0" err="1"/>
              <a:t>enviado</a:t>
            </a:r>
            <a:r>
              <a:rPr sz="1600" dirty="0"/>
              <a:t> com </a:t>
            </a:r>
            <a:r>
              <a:rPr sz="1600" dirty="0" err="1"/>
              <a:t>assunto</a:t>
            </a:r>
            <a:r>
              <a:rPr sz="1600" dirty="0"/>
              <a:t> </a:t>
            </a:r>
            <a:r>
              <a:rPr sz="1600" dirty="0" err="1"/>
              <a:t>correto</a:t>
            </a:r>
            <a:r>
              <a:rPr sz="1600" dirty="0"/>
              <a:t> e </a:t>
            </a:r>
            <a:r>
              <a:rPr sz="1600" dirty="0" err="1"/>
              <a:t>anexo</a:t>
            </a:r>
            <a:r>
              <a:rPr sz="1600" dirty="0"/>
              <a:t> </a:t>
            </a:r>
            <a:r>
              <a:rPr sz="1600" dirty="0" err="1"/>
              <a:t>anexado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2584</Words>
  <Application>Microsoft Office PowerPoint</Application>
  <PresentationFormat>Widescreen</PresentationFormat>
  <Paragraphs>186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Cíntia Maria de Araújo Pinho</cp:lastModifiedBy>
  <cp:revision>7</cp:revision>
  <dcterms:created xsi:type="dcterms:W3CDTF">2013-01-27T09:14:16Z</dcterms:created>
  <dcterms:modified xsi:type="dcterms:W3CDTF">2026-08-28T20:26:06Z</dcterms:modified>
  <cp:category/>
</cp:coreProperties>
</file>